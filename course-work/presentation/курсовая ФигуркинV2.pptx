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embeddedFontLst>
    <p:embeddedFont>
      <p:font typeface="Montserrat ExtraBold" panose="00000900000000000000" pitchFamily="2" charset="-52"/>
      <p:bold r:id="rId15"/>
      <p:boldItalic r:id="rId16"/>
    </p:embeddedFont>
    <p:embeddedFont>
      <p:font typeface="Open Sans" panose="020B0606030504020204" pitchFamily="34" charset="0"/>
      <p:regular r:id="rId17"/>
      <p:bold r:id="rId18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  <a:defRPr lang="ru-RU"/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BE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6FA74-D4DD-4D60-B918-F78BDB164E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BB932-8F50-4491-A897-9DB3A599F0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09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ctrTitle"/>
          </p:nvPr>
        </p:nvSpPr>
        <p:spPr bwMode="auto">
          <a:xfrm>
            <a:off x="311707" y="744574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subTitle" idx="1"/>
          </p:nvPr>
        </p:nvSpPr>
        <p:spPr bwMode="auto">
          <a:xfrm>
            <a:off x="311699" y="2834124"/>
            <a:ext cx="8520599" cy="79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two columns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Google Shape;21;p30"/>
          <p:cNvSpPr txBox="1">
            <a:spLocks noGrp="1"/>
          </p:cNvSpPr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body" idx="1"/>
          </p:nvPr>
        </p:nvSpPr>
        <p:spPr bwMode="auto">
          <a:xfrm>
            <a:off x="311699" y="1152473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2"/>
          </p:nvPr>
        </p:nvSpPr>
        <p:spPr bwMode="auto">
          <a:xfrm>
            <a:off x="4832398" y="1152473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>
            <a:spLocks noGrp="1"/>
          </p:cNvSpPr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 bwMode="auto">
          <a:xfrm>
            <a:off x="311699" y="555599"/>
            <a:ext cx="2808000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1"/>
          </p:nvPr>
        </p:nvSpPr>
        <p:spPr bwMode="auto">
          <a:xfrm>
            <a:off x="311699" y="1389600"/>
            <a:ext cx="2808000" cy="317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Main point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>
            <a:spLocks noGrp="1"/>
          </p:cNvSpPr>
          <p:nvPr>
            <p:ph type="title"/>
          </p:nvPr>
        </p:nvSpPr>
        <p:spPr bwMode="auto">
          <a:xfrm>
            <a:off x="490249" y="450149"/>
            <a:ext cx="6367799" cy="4090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/>
          <p:nvPr/>
        </p:nvSpPr>
        <p:spPr bwMode="auto">
          <a:xfrm>
            <a:off x="4572000" y="-124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34"/>
          <p:cNvSpPr txBox="1">
            <a:spLocks noGrp="1"/>
          </p:cNvSpPr>
          <p:nvPr>
            <p:ph type="title"/>
          </p:nvPr>
        </p:nvSpPr>
        <p:spPr bwMode="auto">
          <a:xfrm>
            <a:off x="265500" y="1233174"/>
            <a:ext cx="4045198" cy="1482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4"/>
            <a:ext cx="4045198" cy="123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body" idx="2"/>
          </p:nvPr>
        </p:nvSpPr>
        <p:spPr bwMode="auto">
          <a:xfrm>
            <a:off x="4939499" y="724074"/>
            <a:ext cx="3836999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aption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>
            <a:spLocks noGrp="1"/>
          </p:cNvSpPr>
          <p:nvPr>
            <p:ph type="body" idx="1"/>
          </p:nvPr>
        </p:nvSpPr>
        <p:spPr bwMode="auto">
          <a:xfrm>
            <a:off x="311699" y="4230574"/>
            <a:ext cx="5998799" cy="60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g number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>
            <a:spLocks noGrp="1"/>
          </p:cNvSpPr>
          <p:nvPr>
            <p:ph type="title" hasCustomPrompt="1"/>
          </p:nvPr>
        </p:nvSpPr>
        <p:spPr bwMode="auto">
          <a:xfrm>
            <a:off x="311699" y="1106124"/>
            <a:ext cx="8520599" cy="196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1"/>
          </p:nvPr>
        </p:nvSpPr>
        <p:spPr bwMode="auto">
          <a:xfrm>
            <a:off x="311699" y="3152224"/>
            <a:ext cx="8520599" cy="1300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 bwMode="auto">
          <a:xfrm>
            <a:off x="311699" y="1152473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lvl="1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lvl="2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 bwMode="auto">
          <a:xfrm>
            <a:off x="8472457" y="4663216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1032859" name="Google Shape;54;p2"/>
          <p:cNvPicPr/>
          <p:nvPr/>
        </p:nvPicPr>
        <p:blipFill>
          <a:blip r:embed="rId2">
            <a:alphaModFix/>
          </a:blip>
          <a:srcRect l="41482" r="17661"/>
          <a:stretch/>
        </p:blipFill>
        <p:spPr bwMode="auto">
          <a:xfrm>
            <a:off x="6089774" y="-13446"/>
            <a:ext cx="3054222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91903167" name="Google Shape;55;p2"/>
          <p:cNvSpPr txBox="1"/>
          <p:nvPr/>
        </p:nvSpPr>
        <p:spPr bwMode="auto">
          <a:xfrm>
            <a:off x="0" y="390454"/>
            <a:ext cx="6091933" cy="222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1" tIns="34272" rIns="68571" bIns="34272" anchor="t" anchorCtr="0">
            <a:sp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defRPr/>
            </a:pPr>
            <a:endParaRPr lang="ru-RU" sz="2000" b="1" dirty="0">
              <a:solidFill>
                <a:srgbClr val="0064BE"/>
              </a:solidFill>
              <a:latin typeface="Montserrat ExtraBold" panose="00000900000000000000" pitchFamily="2" charset="-52"/>
              <a:ea typeface="Calibri"/>
              <a:cs typeface="Calibri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defRPr/>
            </a:pPr>
            <a:r>
              <a:rPr lang="ru-RU" sz="2000" b="1" i="0" u="none" strike="noStrike" cap="none" spc="0" dirty="0">
                <a:solidFill>
                  <a:srgbClr val="0064BE"/>
                </a:solidFill>
                <a:highlight>
                  <a:srgbClr val="FFFFFF"/>
                </a:highlight>
                <a:latin typeface="Montserrat ExtraBold" panose="00000900000000000000" pitchFamily="2" charset="-52"/>
                <a:ea typeface="Calibri"/>
                <a:cs typeface="Calibri"/>
              </a:rPr>
              <a:t>РАБОТКА КОМПОНЕНТОВ ИНФОРМАЦИОННОЙ СИСТЕМЫ ДЛЯ ИССЛЕДОВАТЕЛЬСКОГО ПОИСКА В МАССИВАХ СТРУКТУРИРОВАННЫХ ДАННЫХ ВЗАИМОДЕЙСТВУЮЩИХ С БОЛЬШИМИ ЯЗЫКОВЫМИ МОДЕЛЯМИ</a:t>
            </a:r>
            <a:endParaRPr lang="ru-RU" sz="2000" b="1"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grpSp>
        <p:nvGrpSpPr>
          <p:cNvPr id="2136173764" name="Google Shape;57;p2"/>
          <p:cNvGrpSpPr/>
          <p:nvPr/>
        </p:nvGrpSpPr>
        <p:grpSpPr bwMode="auto">
          <a:xfrm>
            <a:off x="-5" y="4882237"/>
            <a:ext cx="9144004" cy="301729"/>
            <a:chOff x="0" y="0"/>
            <a:chExt cx="9144004" cy="301729"/>
          </a:xfrm>
        </p:grpSpPr>
        <p:sp>
          <p:nvSpPr>
            <p:cNvPr id="1180187482" name="Google Shape;58;p2"/>
            <p:cNvSpPr/>
            <p:nvPr/>
          </p:nvSpPr>
          <p:spPr bwMode="auto">
            <a:xfrm rot="5399976" flipH="1">
              <a:off x="4421142" y="-4421130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4" tIns="68574" rIns="68574" bIns="68574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958631363" name="Google Shape;59;p2"/>
            <p:cNvSpPr txBox="1"/>
            <p:nvPr/>
          </p:nvSpPr>
          <p:spPr bwMode="auto">
            <a:xfrm rot="10799989" flipH="1">
              <a:off x="0" y="0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4" tIns="34274" rIns="68574" bIns="34274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266289398" name="Google Shape;61;p2"/>
          <p:cNvSpPr txBox="1"/>
          <p:nvPr/>
        </p:nvSpPr>
        <p:spPr bwMode="auto">
          <a:xfrm>
            <a:off x="-86587" y="2656490"/>
            <a:ext cx="4602412" cy="2199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360000" marR="0" lvl="0" indent="0">
              <a:buSzPts val="3600"/>
              <a:defRPr/>
            </a:pPr>
            <a:r>
              <a:rPr lang="ru-RU" sz="1600" dirty="0">
                <a:solidFill>
                  <a:srgbClr val="0064BE"/>
                </a:solidFill>
                <a:latin typeface="Open Sans"/>
                <a:ea typeface="Open Sans"/>
                <a:cs typeface="Open Sans"/>
              </a:rPr>
              <a:t>Выполнил обучающийся</a:t>
            </a:r>
            <a:r>
              <a:rPr lang="en-US" sz="1600" dirty="0">
                <a:solidFill>
                  <a:srgbClr val="0064BE"/>
                </a:solidFill>
                <a:latin typeface="Open Sans"/>
                <a:ea typeface="Open Sans"/>
                <a:cs typeface="Open Sans"/>
              </a:rPr>
              <a:t>:</a:t>
            </a:r>
            <a:endParaRPr dirty="0">
              <a:solidFill>
                <a:srgbClr val="0064BE"/>
              </a:solidFill>
              <a:latin typeface="Open Sans"/>
              <a:cs typeface="Open Sans"/>
            </a:endParaRPr>
          </a:p>
          <a:p>
            <a:pPr marL="360000" marR="0" lvl="0" indent="0">
              <a:buSzPts val="3600"/>
              <a:defRPr/>
            </a:pPr>
            <a:r>
              <a:rPr lang="ru-RU" sz="1200" dirty="0">
                <a:solidFill>
                  <a:srgbClr val="0064BE"/>
                </a:solidFill>
                <a:latin typeface="Open Sans"/>
                <a:ea typeface="Open Sans"/>
                <a:cs typeface="Open Sans"/>
              </a:rPr>
              <a:t>4 курса Фигуркин Даниил Сергеевич </a:t>
            </a:r>
            <a:endParaRPr sz="1200" dirty="0">
              <a:solidFill>
                <a:srgbClr val="0064BE"/>
              </a:solidFill>
              <a:latin typeface="Open Sans"/>
              <a:cs typeface="Open Sans"/>
            </a:endParaRPr>
          </a:p>
          <a:p>
            <a:pPr marL="360000" marR="0" lvl="0" indent="0">
              <a:buSzPts val="3600"/>
              <a:defRPr/>
            </a:pPr>
            <a:r>
              <a:rPr lang="ru-RU" sz="1200" dirty="0">
                <a:solidFill>
                  <a:srgbClr val="0064BE"/>
                </a:solidFill>
                <a:latin typeface="Open Sans"/>
                <a:ea typeface="Open Sans"/>
                <a:cs typeface="Open Sans"/>
              </a:rPr>
              <a:t>Направление подготовки 09.03.02 Информационные системы и технологии </a:t>
            </a:r>
            <a:endParaRPr sz="1200" dirty="0">
              <a:solidFill>
                <a:srgbClr val="0064BE"/>
              </a:solidFill>
              <a:latin typeface="Open Sans"/>
              <a:cs typeface="Open Sans"/>
            </a:endParaRPr>
          </a:p>
          <a:p>
            <a:pPr marL="360000" marR="0" lvl="0" indent="0">
              <a:buSzPts val="3600"/>
              <a:defRPr/>
            </a:pPr>
            <a:r>
              <a:rPr lang="ru-RU" sz="1200" dirty="0">
                <a:solidFill>
                  <a:srgbClr val="0064BE"/>
                </a:solidFill>
                <a:latin typeface="Open Sans"/>
                <a:ea typeface="Open Sans"/>
                <a:cs typeface="Open Sans"/>
              </a:rPr>
              <a:t>Направленность (профиль): Программно-аппаратные комплексы очная форма обучения группа 4БИСиТ-ПАК_АФ</a:t>
            </a:r>
            <a:endParaRPr sz="1200" dirty="0">
              <a:solidFill>
                <a:srgbClr val="0064BE"/>
              </a:solidFill>
              <a:latin typeface="Open Sans"/>
              <a:cs typeface="Open Sans"/>
            </a:endParaRPr>
          </a:p>
          <a:p>
            <a:pPr marL="360000" marR="0" lvl="0" indent="0">
              <a:buSzPts val="3600"/>
              <a:defRPr/>
            </a:pPr>
            <a:endParaRPr sz="1200" dirty="0">
              <a:solidFill>
                <a:srgbClr val="0064BE"/>
              </a:solidFill>
              <a:latin typeface="Open Sans"/>
              <a:cs typeface="Open Sans"/>
            </a:endParaRPr>
          </a:p>
          <a:p>
            <a:pPr marL="360000" marR="0" lvl="0" indent="0">
              <a:buSzPts val="3600"/>
              <a:defRPr/>
            </a:pPr>
            <a:r>
              <a:rPr lang="ru-RU" sz="1600" dirty="0">
                <a:solidFill>
                  <a:srgbClr val="0064BE"/>
                </a:solidFill>
                <a:latin typeface="Open Sans"/>
                <a:ea typeface="Open Sans"/>
                <a:cs typeface="Open Sans"/>
              </a:rPr>
              <a:t>Научный руководитель: </a:t>
            </a:r>
            <a:endParaRPr dirty="0">
              <a:solidFill>
                <a:srgbClr val="0064BE"/>
              </a:solidFill>
              <a:latin typeface="Open Sans"/>
              <a:cs typeface="Open Sans"/>
            </a:endParaRPr>
          </a:p>
          <a:p>
            <a:pPr marL="360000" marR="0" lvl="0" indent="0">
              <a:buSzPts val="3600"/>
              <a:defRPr/>
            </a:pPr>
            <a:r>
              <a:rPr lang="ru-RU" sz="1200" dirty="0">
                <a:solidFill>
                  <a:srgbClr val="0064BE"/>
                </a:solidFill>
                <a:latin typeface="Open Sans"/>
                <a:ea typeface="Open Sans"/>
                <a:cs typeface="Open Sans"/>
              </a:rPr>
              <a:t>Федоров Андрей Михайлович – канд. техн. наук</a:t>
            </a:r>
            <a:endParaRPr sz="1200" dirty="0">
              <a:solidFill>
                <a:srgbClr val="0064BE"/>
              </a:solidFill>
              <a:latin typeface="Open Sans"/>
              <a:cs typeface="Open Sans"/>
            </a:endParaRPr>
          </a:p>
        </p:txBody>
      </p:sp>
      <p:sp>
        <p:nvSpPr>
          <p:cNvPr id="1960199730" name="Google Shape;154;g315eba490ab_6_77"/>
          <p:cNvSpPr txBox="1"/>
          <p:nvPr/>
        </p:nvSpPr>
        <p:spPr bwMode="auto">
          <a:xfrm>
            <a:off x="-325197" y="4882237"/>
            <a:ext cx="9794381" cy="495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2" tIns="34272" rIns="68572" bIns="34272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"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rPr>
              <a:t>#сделанывАрктике #сделанывАрктике #сделанывАрктике #сделанывАрктике #сделанывАрктике #сделанывАрктике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41985333" name="Google Shape;56;p2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32664"/>
            <a:ext cx="1996898" cy="7155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6287134" name="Группа 746287133"/>
          <p:cNvGrpSpPr/>
          <p:nvPr/>
        </p:nvGrpSpPr>
        <p:grpSpPr bwMode="auto">
          <a:xfrm>
            <a:off x="2380905" y="32664"/>
            <a:ext cx="3908727" cy="590548"/>
            <a:chOff x="0" y="0"/>
            <a:chExt cx="3908727" cy="590548"/>
          </a:xfrm>
        </p:grpSpPr>
        <p:pic>
          <p:nvPicPr>
            <p:cNvPr id="572068786" name="Рисунок 572068785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1992367172" name="Прямоугольник 1992367171"/>
            <p:cNvSpPr/>
            <p:nvPr/>
          </p:nvSpPr>
          <p:spPr bwMode="auto">
            <a:xfrm>
              <a:off x="657223" y="112213"/>
              <a:ext cx="3251502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 информатики и математического моделирования им. В.А. Путилова</a:t>
              </a:r>
              <a:endParaRPr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349581" name="Google Shape;149;g315eba490ab_6_7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560082" y="147348"/>
            <a:ext cx="1339817" cy="480117"/>
          </a:xfrm>
          <a:prstGeom prst="rect">
            <a:avLst/>
          </a:prstGeom>
          <a:noFill/>
          <a:ln>
            <a:noFill/>
          </a:ln>
        </p:spPr>
      </p:pic>
      <p:sp>
        <p:nvSpPr>
          <p:cNvPr id="681419485" name="Google Shape;150;g315eba490ab_6_77"/>
          <p:cNvSpPr txBox="1"/>
          <p:nvPr/>
        </p:nvSpPr>
        <p:spPr bwMode="auto">
          <a:xfrm>
            <a:off x="433909" y="1625353"/>
            <a:ext cx="6974214" cy="49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2" tIns="34272" rIns="68572" bIns="34272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4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Цель</a:t>
            </a:r>
            <a:endParaRPr sz="1200"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grpSp>
        <p:nvGrpSpPr>
          <p:cNvPr id="1510894408" name="Google Shape;151;g315eba490ab_6_77"/>
          <p:cNvGrpSpPr/>
          <p:nvPr/>
        </p:nvGrpSpPr>
        <p:grpSpPr bwMode="auto">
          <a:xfrm>
            <a:off x="-324154" y="4882215"/>
            <a:ext cx="9794021" cy="495630"/>
            <a:chOff x="0" y="0"/>
            <a:chExt cx="9794021" cy="495630"/>
          </a:xfrm>
        </p:grpSpPr>
        <p:sp>
          <p:nvSpPr>
            <p:cNvPr id="1732043848" name="Google Shape;152;g315eba490ab_6_77"/>
            <p:cNvSpPr/>
            <p:nvPr/>
          </p:nvSpPr>
          <p:spPr bwMode="auto">
            <a:xfrm rot="5399942" flipH="1">
              <a:off x="4745291" y="-4421108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3" tIns="68573" rIns="68573" bIns="68573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96178220" name="Google Shape;153;g315eba490ab_6_77"/>
            <p:cNvSpPr txBox="1"/>
            <p:nvPr/>
          </p:nvSpPr>
          <p:spPr bwMode="auto">
            <a:xfrm rot="10799952" flipH="1">
              <a:off x="324147" y="18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3" tIns="34273" rIns="68573" bIns="34273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28521628" name="Google Shape;154;g315eba490ab_6_77"/>
            <p:cNvSpPr txBox="1"/>
            <p:nvPr/>
          </p:nvSpPr>
          <p:spPr bwMode="auto">
            <a:xfrm>
              <a:off x="0" y="0"/>
              <a:ext cx="9794021" cy="495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2" tIns="34272" rIns="68572" bIns="34272" anchor="t" anchorCtr="0">
              <a:sp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ru" sz="1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</a:rPr>
                <a:t>#сделанывАрктике #сделанывАрктике #сделанывАрктике #сделанывАрктике #сделанывАрктике #сделанывАрктике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54681333" name="Группа 1954681332"/>
          <p:cNvGrpSpPr/>
          <p:nvPr/>
        </p:nvGrpSpPr>
        <p:grpSpPr bwMode="auto">
          <a:xfrm>
            <a:off x="6430600" y="80852"/>
            <a:ext cx="1476072" cy="590544"/>
            <a:chOff x="0" y="0"/>
            <a:chExt cx="1476072" cy="590544"/>
          </a:xfrm>
        </p:grpSpPr>
        <p:pic>
          <p:nvPicPr>
            <p:cNvPr id="1834769439" name="Рисунок 1834769438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5"/>
            </a:xfrm>
            <a:prstGeom prst="rect">
              <a:avLst/>
            </a:prstGeom>
          </p:spPr>
        </p:pic>
        <p:sp>
          <p:nvSpPr>
            <p:cNvPr id="1439861377" name="Прямоугольник 1439861376"/>
            <p:cNvSpPr/>
            <p:nvPr/>
          </p:nvSpPr>
          <p:spPr bwMode="auto">
            <a:xfrm>
              <a:off x="658818" y="66492"/>
              <a:ext cx="817254" cy="503276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212285717" name="Google Shape;150;g315eba490ab_6_77"/>
          <p:cNvSpPr txBox="1"/>
          <p:nvPr/>
        </p:nvSpPr>
        <p:spPr bwMode="auto">
          <a:xfrm>
            <a:off x="459196" y="2773917"/>
            <a:ext cx="6970974" cy="54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2" tIns="34272" rIns="68572" bIns="34272" anchor="t" anchorCtr="0">
            <a:spAutoFit/>
          </a:bodyPr>
          <a:lstStyle/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700">
                <a:solidFill>
                  <a:srgbClr val="0064BE"/>
                </a:solidFill>
                <a:latin typeface="Calibri"/>
                <a:ea typeface="Calibri"/>
                <a:cs typeface="Calibri"/>
              </a:rPr>
              <a:t> </a:t>
            </a:r>
            <a:endParaRPr sz="2700">
              <a:solidFill>
                <a:srgbClr val="0064BE"/>
              </a:solidFill>
              <a:latin typeface="Calibri"/>
              <a:cs typeface="Calibri"/>
            </a:endParaRPr>
          </a:p>
        </p:txBody>
      </p:sp>
      <p:sp>
        <p:nvSpPr>
          <p:cNvPr id="1542504166" name="TextBox 1542504165"/>
          <p:cNvSpPr txBox="1"/>
          <p:nvPr/>
        </p:nvSpPr>
        <p:spPr bwMode="auto">
          <a:xfrm>
            <a:off x="433909" y="2040311"/>
            <a:ext cx="8236134" cy="914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Разработать компоненты и методику исследовательского поиска по коду LLM-зависимых проектов для снижения трудоёмкости миграции между провайдерами.</a:t>
            </a:r>
            <a:endParaRPr sz="2200" b="0" i="0" u="none" strike="noStrike" cap="none" spc="0">
              <a:solidFill>
                <a:schemeClr val="tx1"/>
              </a:solidFill>
              <a:latin typeface="Open Sans"/>
              <a:cs typeface="Open Sans"/>
            </a:endParaRPr>
          </a:p>
        </p:txBody>
      </p:sp>
      <p:sp>
        <p:nvSpPr>
          <p:cNvPr id="1129772295" name="TextBox 1129772294"/>
          <p:cNvSpPr txBox="1"/>
          <p:nvPr/>
        </p:nvSpPr>
        <p:spPr bwMode="auto">
          <a:xfrm>
            <a:off x="433909" y="3537762"/>
            <a:ext cx="8635944" cy="13498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Выделить типовые точки изменения при миграции LLM</a:t>
            </a:r>
            <a:endParaRPr dirty="0"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Разработать механизм оценки сложности переноса проекта</a:t>
            </a:r>
            <a:endParaRPr dirty="0">
              <a:latin typeface="Open Sans"/>
              <a:cs typeface="Open Sans"/>
            </a:endParaRPr>
          </a:p>
          <a:p>
            <a:pPr marL="283879" indent="-283879">
              <a:buFont typeface="Arial"/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Реализовать алгоритм автоматического аннотирования исходного кода</a:t>
            </a:r>
            <a:endParaRPr dirty="0"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Провести экспериментальную проверку на практике</a:t>
            </a:r>
            <a:endParaRPr dirty="0">
              <a:latin typeface="Open Sans"/>
              <a:cs typeface="Open Sans"/>
            </a:endParaRPr>
          </a:p>
        </p:txBody>
      </p:sp>
      <p:sp>
        <p:nvSpPr>
          <p:cNvPr id="6" name="Google Shape;150;g315eba490ab_6_77"/>
          <p:cNvSpPr txBox="1"/>
          <p:nvPr/>
        </p:nvSpPr>
        <p:spPr bwMode="auto">
          <a:xfrm>
            <a:off x="450510" y="3100433"/>
            <a:ext cx="6985013" cy="493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4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Задачи</a:t>
            </a:r>
            <a:endParaRPr sz="1200"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sp>
        <p:nvSpPr>
          <p:cNvPr id="1888414973" name="Google Shape;150;g315eba490ab_6_77"/>
          <p:cNvSpPr txBox="1"/>
          <p:nvPr/>
        </p:nvSpPr>
        <p:spPr bwMode="auto">
          <a:xfrm>
            <a:off x="459198" y="145018"/>
            <a:ext cx="6969894" cy="493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4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Актуальность</a:t>
            </a:r>
            <a:endParaRPr lang="ru-RU" sz="1200"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sp>
        <p:nvSpPr>
          <p:cNvPr id="83609957" name="TextBox 83609956"/>
          <p:cNvSpPr txBox="1"/>
          <p:nvPr/>
        </p:nvSpPr>
        <p:spPr bwMode="auto">
          <a:xfrm>
            <a:off x="461309" y="587158"/>
            <a:ext cx="8777868" cy="103819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8" indent="-283878" algn="l">
              <a:lnSpc>
                <a:spcPct val="114999"/>
              </a:lnSpc>
              <a:buAutoNum type="arabicParenR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Рост популярности LLM: интеграция во всё большее число сфер</a:t>
            </a:r>
            <a:endParaRPr sz="1800">
              <a:latin typeface="Open Sans"/>
              <a:cs typeface="Open Sans"/>
            </a:endParaRPr>
          </a:p>
          <a:p>
            <a:pPr marL="283878" indent="-283878" algn="l">
              <a:lnSpc>
                <a:spcPct val="114999"/>
              </a:lnSpc>
              <a:buAutoNum type="arabicParenR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Зависимость от зарубежных и труднодоступных API</a:t>
            </a:r>
            <a:endParaRPr sz="1800">
              <a:latin typeface="Open Sans"/>
              <a:cs typeface="Open Sans"/>
            </a:endParaRPr>
          </a:p>
          <a:p>
            <a:pPr marL="283878" indent="-283878" algn="l">
              <a:lnSpc>
                <a:spcPct val="114999"/>
              </a:lnSpc>
              <a:buAutoNum type="arabicParenR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Смена провайдера: заметные трудозатраты и риск ошибок при переносе</a:t>
            </a:r>
            <a:endParaRPr sz="1800">
              <a:latin typeface="Open Sans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2C0E11-C451-CEFD-C2E8-3D042603F35C}"/>
              </a:ext>
            </a:extLst>
          </p:cNvPr>
          <p:cNvSpPr txBox="1"/>
          <p:nvPr/>
        </p:nvSpPr>
        <p:spPr>
          <a:xfrm>
            <a:off x="8899899" y="464340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31576" name="Google Shape;149;g315eba490ab_6_7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560082" y="147348"/>
            <a:ext cx="1339817" cy="4801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3974819" name="Google Shape;57;p2"/>
          <p:cNvGrpSpPr/>
          <p:nvPr/>
        </p:nvGrpSpPr>
        <p:grpSpPr bwMode="auto">
          <a:xfrm>
            <a:off x="-5" y="4882237"/>
            <a:ext cx="9144005" cy="301730"/>
            <a:chOff x="0" y="0"/>
            <a:chExt cx="9144005" cy="301730"/>
          </a:xfrm>
        </p:grpSpPr>
        <p:sp>
          <p:nvSpPr>
            <p:cNvPr id="1221008652" name="Google Shape;58;p2"/>
            <p:cNvSpPr/>
            <p:nvPr/>
          </p:nvSpPr>
          <p:spPr bwMode="auto">
            <a:xfrm rot="5399976" flipH="1">
              <a:off x="4421142" y="-4421130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4" tIns="68574" rIns="68574" bIns="68574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002221665" name="Google Shape;59;p2"/>
            <p:cNvSpPr txBox="1"/>
            <p:nvPr/>
          </p:nvSpPr>
          <p:spPr bwMode="auto">
            <a:xfrm rot="10799989" flipH="1">
              <a:off x="0" y="0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4" tIns="34274" rIns="68574" bIns="34274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804552713" name="Google Shape;154;g315eba490ab_6_77"/>
          <p:cNvSpPr txBox="1"/>
          <p:nvPr/>
        </p:nvSpPr>
        <p:spPr bwMode="auto">
          <a:xfrm>
            <a:off x="-325197" y="4882237"/>
            <a:ext cx="9794742" cy="49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"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rPr>
              <a:t>#сделанывАрктике #сделанывАрктике #сделанывАрктике #сделанывАрктике #сделанывАрктике #сделанывАрктике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grpSp>
        <p:nvGrpSpPr>
          <p:cNvPr id="1011789704" name="Группа 1011789703"/>
          <p:cNvGrpSpPr/>
          <p:nvPr/>
        </p:nvGrpSpPr>
        <p:grpSpPr bwMode="auto">
          <a:xfrm>
            <a:off x="6430601" y="80853"/>
            <a:ext cx="1476432" cy="590546"/>
            <a:chOff x="0" y="0"/>
            <a:chExt cx="1476432" cy="590546"/>
          </a:xfrm>
        </p:grpSpPr>
        <p:pic>
          <p:nvPicPr>
            <p:cNvPr id="1635829980" name="Рисунок 1635829979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6"/>
            </a:xfrm>
            <a:prstGeom prst="rect">
              <a:avLst/>
            </a:prstGeom>
          </p:spPr>
        </p:pic>
        <p:sp>
          <p:nvSpPr>
            <p:cNvPr id="47013463" name="Прямоугольник 47013462"/>
            <p:cNvSpPr/>
            <p:nvPr/>
          </p:nvSpPr>
          <p:spPr bwMode="auto">
            <a:xfrm>
              <a:off x="658818" y="66492"/>
              <a:ext cx="817614" cy="50327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417662985" name="Google Shape;150;g315eba490ab_6_77"/>
          <p:cNvSpPr txBox="1"/>
          <p:nvPr/>
        </p:nvSpPr>
        <p:spPr bwMode="auto">
          <a:xfrm>
            <a:off x="459198" y="145018"/>
            <a:ext cx="6973495" cy="54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7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Проблематика</a:t>
            </a:r>
            <a:endParaRPr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sp>
        <p:nvSpPr>
          <p:cNvPr id="1337223910" name="TextBox 1337223909"/>
          <p:cNvSpPr txBox="1"/>
          <p:nvPr/>
        </p:nvSpPr>
        <p:spPr bwMode="auto">
          <a:xfrm>
            <a:off x="6190748" y="4549314"/>
            <a:ext cx="3432570" cy="31149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ru-RU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Таблица сравнения провайдеров</a:t>
            </a:r>
            <a:endParaRPr sz="1100" dirty="0"/>
          </a:p>
        </p:txBody>
      </p:sp>
      <p:sp>
        <p:nvSpPr>
          <p:cNvPr id="1387479206" name=" 1387479205"/>
          <p:cNvSpPr/>
          <p:nvPr/>
        </p:nvSpPr>
        <p:spPr bwMode="auto">
          <a:xfrm>
            <a:off x="2918504" y="3600000"/>
            <a:ext cx="5784210" cy="3051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graphicFrame>
        <p:nvGraphicFramePr>
          <p:cNvPr id="375415167" name="Таблица 37541516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2051599"/>
              </p:ext>
            </p:extLst>
          </p:nvPr>
        </p:nvGraphicFramePr>
        <p:xfrm>
          <a:off x="4022865" y="789309"/>
          <a:ext cx="5018952" cy="36247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42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06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b="1" i="0" u="none" strike="noStrike" cap="none" spc="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Критерий</a:t>
                      </a:r>
                      <a:endParaRPr sz="1400" b="1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b="1" i="0" u="none" strike="noStrike" cap="none" spc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OpenAI</a:t>
                      </a:r>
                      <a:endParaRPr sz="1400" b="1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b="1" i="0" u="none" strike="noStrike" cap="none" spc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GigaChat</a:t>
                      </a:r>
                      <a:endParaRPr sz="1400" b="1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b="1" i="0" u="none" strike="noStrike" cap="none" spc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YandexGPT</a:t>
                      </a:r>
                      <a:endParaRPr sz="1400" b="1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86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b="1" i="0" u="none" strike="noStrike" cap="none" spc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Доступность API</a:t>
                      </a:r>
                      <a:endParaRPr sz="1400" b="1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 dirty="0" err="1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Платный</a:t>
                      </a:r>
                      <a:r>
                        <a:rPr sz="1400" b="0" i="0" u="none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, </a:t>
                      </a:r>
                      <a:r>
                        <a:rPr sz="1400" b="0" i="0" u="none" dirty="0" err="1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ограничен</a:t>
                      </a: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Бесплатный (R&amp;D)</a:t>
                      </a: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Платный/регистрация</a:t>
                      </a: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06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b="1" i="0" u="none" strike="noStrike" cap="none" spc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Локализация данных</a:t>
                      </a: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 dirty="0" err="1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Нет</a:t>
                      </a: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Да (РФ)</a:t>
                      </a: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Да (РФ)</a:t>
                      </a: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86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b="1" i="0" u="none" strike="noStrike" cap="none" spc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Поддержка документации</a:t>
                      </a: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 dirty="0" err="1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Обширная</a:t>
                      </a: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 dirty="0" err="1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Ограниченная</a:t>
                      </a: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 dirty="0" err="1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Средняя</a:t>
                      </a: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86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1400" b="1" i="0" u="none" strike="noStrike" cap="none" spc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Интеграция в проекты</a:t>
                      </a: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Сложная (ключи)</a:t>
                      </a: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Упрощенная</a:t>
                      </a:r>
                      <a:endParaRPr sz="140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  <a:p>
                      <a:pPr algn="ctr">
                        <a:defRPr/>
                      </a:pPr>
                      <a:r>
                        <a:rPr sz="1400" b="0" i="0" u="none" dirty="0" err="1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Требует</a:t>
                      </a:r>
                      <a:r>
                        <a:rPr sz="1400" b="0" i="0" u="none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sz="1400" b="0" i="0" u="none" dirty="0" err="1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адаптации</a:t>
                      </a:r>
                      <a:endParaRPr sz="1400" dirty="0">
                        <a:solidFill>
                          <a:schemeClr val="tx1"/>
                        </a:solidFill>
                        <a:latin typeface="Open Sans"/>
                        <a:cs typeface="Open Sans"/>
                      </a:endParaRP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63036807" name="TextBox 963036806"/>
          <p:cNvSpPr txBox="1"/>
          <p:nvPr/>
        </p:nvSpPr>
        <p:spPr bwMode="auto">
          <a:xfrm>
            <a:off x="122136" y="1657153"/>
            <a:ext cx="3823809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just">
              <a:defRPr/>
            </a:pPr>
            <a:r>
              <a:rPr lang="ru-RU" sz="1600" b="1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Проблема 1: 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зависимость проектов от конкретного провайдера</a:t>
            </a:r>
            <a:endParaRPr dirty="0">
              <a:latin typeface="Open Sans"/>
              <a:cs typeface="Open Sans"/>
            </a:endParaRPr>
          </a:p>
        </p:txBody>
      </p:sp>
      <p:sp>
        <p:nvSpPr>
          <p:cNvPr id="1022462106" name="TextBox 1022462105"/>
          <p:cNvSpPr txBox="1"/>
          <p:nvPr/>
        </p:nvSpPr>
        <p:spPr bwMode="auto">
          <a:xfrm>
            <a:off x="1995759" y="652667"/>
            <a:ext cx="2301709" cy="58131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ru-RU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Зависимость от недоступных сервисов</a:t>
            </a:r>
            <a:endParaRPr sz="2400" b="0" i="0" u="none" strike="noStrike" cap="none" spc="0" dirty="0">
              <a:solidFill>
                <a:schemeClr val="tx1"/>
              </a:solidFill>
              <a:latin typeface="Open Sans"/>
              <a:cs typeface="Open Sans"/>
            </a:endParaRPr>
          </a:p>
        </p:txBody>
      </p:sp>
      <p:sp>
        <p:nvSpPr>
          <p:cNvPr id="838342833" name="TextBox 838342832"/>
          <p:cNvSpPr txBox="1"/>
          <p:nvPr/>
        </p:nvSpPr>
        <p:spPr bwMode="auto">
          <a:xfrm>
            <a:off x="66354" y="627463"/>
            <a:ext cx="2104996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ru-RU" dirty="0">
                <a:latin typeface="Open Sans"/>
                <a:ea typeface="Open Sans"/>
                <a:cs typeface="Open Sans"/>
              </a:rPr>
              <a:t>сложность миграции между провайдерами моделей</a:t>
            </a:r>
            <a:endParaRPr sz="2400" b="0" i="0" u="none" strike="noStrike" cap="none" spc="0" dirty="0">
              <a:solidFill>
                <a:schemeClr val="accent1">
                  <a:lumMod val="50000"/>
                </a:schemeClr>
              </a:solidFill>
              <a:latin typeface="Open Sans"/>
              <a:cs typeface="Open Sans"/>
            </a:endParaRPr>
          </a:p>
        </p:txBody>
      </p:sp>
      <p:cxnSp>
        <p:nvCxnSpPr>
          <p:cNvPr id="1389257140" name="Прямая соединительная линия 1389257139"/>
          <p:cNvCxnSpPr>
            <a:cxnSpLocks/>
            <a:stCxn id="1022462106" idx="2"/>
          </p:cNvCxnSpPr>
          <p:nvPr/>
        </p:nvCxnSpPr>
        <p:spPr bwMode="auto">
          <a:xfrm flipH="1">
            <a:off x="2892112" y="1233980"/>
            <a:ext cx="254502" cy="37507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6383180" name="Прямая соединительная линия 1826383179"/>
          <p:cNvCxnSpPr>
            <a:cxnSpLocks/>
            <a:stCxn id="838342833" idx="2"/>
          </p:cNvCxnSpPr>
          <p:nvPr/>
        </p:nvCxnSpPr>
        <p:spPr bwMode="auto">
          <a:xfrm>
            <a:off x="1118852" y="1359342"/>
            <a:ext cx="105416" cy="267518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6864862" name="TextBox 1336864861"/>
          <p:cNvSpPr txBox="1"/>
          <p:nvPr/>
        </p:nvSpPr>
        <p:spPr bwMode="auto">
          <a:xfrm>
            <a:off x="238828" y="3435937"/>
            <a:ext cx="3335576" cy="1311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just">
              <a:defRPr/>
            </a:pPr>
            <a:r>
              <a:rPr lang="ru-RU" sz="1600" b="1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Проблема 2: 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отсутствие стандартизированной среды для быстрой адаптации и тестирования приложений на базе LLM</a:t>
            </a:r>
            <a:endParaRPr sz="2400" b="0" i="0" u="none" strike="noStrike" cap="none" spc="0" dirty="0">
              <a:solidFill>
                <a:schemeClr val="tx1"/>
              </a:solidFill>
              <a:latin typeface="Open Sans"/>
              <a:cs typeface="Open Sans"/>
            </a:endParaRPr>
          </a:p>
        </p:txBody>
      </p:sp>
      <p:sp>
        <p:nvSpPr>
          <p:cNvPr id="809149281" name="TextBox 809149280"/>
          <p:cNvSpPr txBox="1"/>
          <p:nvPr/>
        </p:nvSpPr>
        <p:spPr bwMode="auto">
          <a:xfrm>
            <a:off x="0" y="2315027"/>
            <a:ext cx="2114461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ru-RU" dirty="0">
                <a:latin typeface="Open Sans"/>
                <a:ea typeface="Open Sans"/>
                <a:cs typeface="Open Sans"/>
              </a:rPr>
              <a:t>места, требующие изменения, не всегда очевидны</a:t>
            </a:r>
            <a:endParaRPr sz="2400" b="0" i="0" u="none" strike="noStrike" cap="none" spc="0" dirty="0">
              <a:solidFill>
                <a:schemeClr val="accent1">
                  <a:lumMod val="50000"/>
                </a:schemeClr>
              </a:solidFill>
              <a:latin typeface="Open Sans"/>
              <a:cs typeface="Open Sans"/>
            </a:endParaRPr>
          </a:p>
        </p:txBody>
      </p:sp>
      <p:sp>
        <p:nvSpPr>
          <p:cNvPr id="2001329258" name="TextBox 2001329257"/>
          <p:cNvSpPr txBox="1"/>
          <p:nvPr/>
        </p:nvSpPr>
        <p:spPr bwMode="auto">
          <a:xfrm>
            <a:off x="1859848" y="2266925"/>
            <a:ext cx="2272914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ru-RU" dirty="0">
                <a:latin typeface="Open Sans"/>
                <a:ea typeface="Open Sans"/>
                <a:cs typeface="Open Sans"/>
              </a:rPr>
              <a:t>тестирование затрудняется различиями среды</a:t>
            </a:r>
            <a:endParaRPr sz="2000" b="0" i="0" u="none" strike="noStrike" cap="none" spc="0" dirty="0">
              <a:solidFill>
                <a:schemeClr val="accent1">
                  <a:lumMod val="50000"/>
                </a:schemeClr>
              </a:solidFill>
              <a:latin typeface="Open Sans"/>
              <a:cs typeface="Open Sans"/>
            </a:endParaRPr>
          </a:p>
        </p:txBody>
      </p:sp>
      <p:cxnSp>
        <p:nvCxnSpPr>
          <p:cNvPr id="727032990" name="Прямая соединительная линия 727032989"/>
          <p:cNvCxnSpPr>
            <a:cxnSpLocks/>
          </p:cNvCxnSpPr>
          <p:nvPr/>
        </p:nvCxnSpPr>
        <p:spPr bwMode="auto">
          <a:xfrm rot="5399977" flipV="1">
            <a:off x="978940" y="3278260"/>
            <a:ext cx="385239" cy="10541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087294" name="Прямая соединительная линия 972087293"/>
          <p:cNvCxnSpPr>
            <a:cxnSpLocks/>
            <a:stCxn id="2001329258" idx="2"/>
          </p:cNvCxnSpPr>
          <p:nvPr/>
        </p:nvCxnSpPr>
        <p:spPr bwMode="auto">
          <a:xfrm rot="5399977">
            <a:off x="2534175" y="3071644"/>
            <a:ext cx="443529" cy="48073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9822184" name="Прямая соединительная линия 1699822183"/>
          <p:cNvCxnSpPr>
            <a:cxnSpLocks/>
          </p:cNvCxnSpPr>
          <p:nvPr/>
        </p:nvCxnSpPr>
        <p:spPr bwMode="auto">
          <a:xfrm flipV="1">
            <a:off x="66354" y="2315027"/>
            <a:ext cx="3830344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CB581D3-1ADF-D487-6BA3-59365D85F2C1}"/>
              </a:ext>
            </a:extLst>
          </p:cNvPr>
          <p:cNvSpPr txBox="1"/>
          <p:nvPr/>
        </p:nvSpPr>
        <p:spPr bwMode="auto">
          <a:xfrm>
            <a:off x="8899899" y="464340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349581" name="Google Shape;149;g315eba490ab_6_7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560082" y="147348"/>
            <a:ext cx="1339817" cy="480117"/>
          </a:xfrm>
          <a:prstGeom prst="rect">
            <a:avLst/>
          </a:prstGeom>
          <a:noFill/>
          <a:ln>
            <a:noFill/>
          </a:ln>
        </p:spPr>
      </p:pic>
      <p:sp>
        <p:nvSpPr>
          <p:cNvPr id="681419485" name="Google Shape;150;g315eba490ab_6_77"/>
          <p:cNvSpPr txBox="1"/>
          <p:nvPr/>
        </p:nvSpPr>
        <p:spPr bwMode="auto">
          <a:xfrm>
            <a:off x="459198" y="145018"/>
            <a:ext cx="6972775" cy="54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7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Интеграция изменений</a:t>
            </a:r>
            <a:endParaRPr dirty="0">
              <a:solidFill>
                <a:srgbClr val="0064BE"/>
              </a:solidFill>
              <a:latin typeface="Montserrat ExtraBold" panose="00000900000000000000" pitchFamily="2" charset="-52"/>
            </a:endParaRPr>
          </a:p>
        </p:txBody>
      </p:sp>
      <p:grpSp>
        <p:nvGrpSpPr>
          <p:cNvPr id="1510894408" name="Google Shape;151;g315eba490ab_6_77"/>
          <p:cNvGrpSpPr/>
          <p:nvPr/>
        </p:nvGrpSpPr>
        <p:grpSpPr bwMode="auto">
          <a:xfrm>
            <a:off x="-324154" y="4882215"/>
            <a:ext cx="9794021" cy="495630"/>
            <a:chOff x="0" y="0"/>
            <a:chExt cx="9794021" cy="495630"/>
          </a:xfrm>
        </p:grpSpPr>
        <p:sp>
          <p:nvSpPr>
            <p:cNvPr id="1732043848" name="Google Shape;152;g315eba490ab_6_77"/>
            <p:cNvSpPr/>
            <p:nvPr/>
          </p:nvSpPr>
          <p:spPr bwMode="auto">
            <a:xfrm rot="5399942" flipH="1">
              <a:off x="4745291" y="-4421108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3" tIns="68573" rIns="68573" bIns="68573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96178220" name="Google Shape;153;g315eba490ab_6_77"/>
            <p:cNvSpPr txBox="1"/>
            <p:nvPr/>
          </p:nvSpPr>
          <p:spPr bwMode="auto">
            <a:xfrm rot="10799952" flipH="1">
              <a:off x="324147" y="18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3" tIns="34273" rIns="68573" bIns="34273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28521628" name="Google Shape;154;g315eba490ab_6_77"/>
            <p:cNvSpPr txBox="1"/>
            <p:nvPr/>
          </p:nvSpPr>
          <p:spPr bwMode="auto">
            <a:xfrm>
              <a:off x="0" y="0"/>
              <a:ext cx="9794021" cy="495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2" tIns="34272" rIns="68572" bIns="34272" anchor="t" anchorCtr="0">
              <a:sp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ru" sz="1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</a:rPr>
                <a:t>#сделанывАрктике #сделанывАрктике #сделанывАрктике #сделанывАрктике #сделанывАрктике #сделанывАрктике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54681333" name="Группа 1954681332"/>
          <p:cNvGrpSpPr/>
          <p:nvPr/>
        </p:nvGrpSpPr>
        <p:grpSpPr bwMode="auto">
          <a:xfrm>
            <a:off x="6430600" y="80852"/>
            <a:ext cx="1476072" cy="590544"/>
            <a:chOff x="0" y="0"/>
            <a:chExt cx="1476072" cy="590544"/>
          </a:xfrm>
        </p:grpSpPr>
        <p:pic>
          <p:nvPicPr>
            <p:cNvPr id="1834769439" name="Рисунок 1834769438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5"/>
            </a:xfrm>
            <a:prstGeom prst="rect">
              <a:avLst/>
            </a:prstGeom>
          </p:spPr>
        </p:pic>
        <p:sp>
          <p:nvSpPr>
            <p:cNvPr id="1439861377" name="Прямоугольник 1439861376"/>
            <p:cNvSpPr/>
            <p:nvPr/>
          </p:nvSpPr>
          <p:spPr bwMode="auto">
            <a:xfrm>
              <a:off x="658818" y="66492"/>
              <a:ext cx="817254" cy="503276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212285717" name="Google Shape;150;g315eba490ab_6_77"/>
          <p:cNvSpPr txBox="1"/>
          <p:nvPr/>
        </p:nvSpPr>
        <p:spPr bwMode="auto">
          <a:xfrm>
            <a:off x="459196" y="2773917"/>
            <a:ext cx="6970974" cy="54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2" tIns="34272" rIns="68572" bIns="34272" anchor="t" anchorCtr="0">
            <a:spAutoFit/>
          </a:bodyPr>
          <a:lstStyle/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700">
                <a:solidFill>
                  <a:srgbClr val="0064BE"/>
                </a:solidFill>
                <a:latin typeface="Calibri"/>
                <a:ea typeface="Calibri"/>
                <a:cs typeface="Calibri"/>
              </a:rPr>
              <a:t> </a:t>
            </a:r>
            <a:endParaRPr sz="2700">
              <a:solidFill>
                <a:srgbClr val="0064BE"/>
              </a:solidFill>
              <a:latin typeface="Calibri"/>
              <a:cs typeface="Calibri"/>
            </a:endParaRPr>
          </a:p>
        </p:txBody>
      </p:sp>
      <p:sp>
        <p:nvSpPr>
          <p:cNvPr id="1542504166" name="TextBox 1542504165"/>
          <p:cNvSpPr txBox="1"/>
          <p:nvPr/>
        </p:nvSpPr>
        <p:spPr bwMode="auto">
          <a:xfrm>
            <a:off x="453342" y="911728"/>
            <a:ext cx="8584834" cy="72109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342900" indent="-342900" algn="l">
              <a:buFont typeface="+mj-lt"/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провайдер и его библиотеки (клиент, авторизация, выбор модели)</a:t>
            </a:r>
            <a:endParaRPr dirty="0">
              <a:latin typeface="Open Sans"/>
              <a:cs typeface="Open Sans"/>
            </a:endParaRPr>
          </a:p>
          <a:p>
            <a:pPr marL="342900" indent="-342900" algn="l">
              <a:buFont typeface="+mj-lt"/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работа запросом/ответом (структура запроса, параметры, контекст)</a:t>
            </a:r>
            <a:endParaRPr dirty="0">
              <a:latin typeface="Open Sans"/>
              <a:cs typeface="Open Sans"/>
            </a:endParaRPr>
          </a:p>
        </p:txBody>
      </p:sp>
      <p:sp>
        <p:nvSpPr>
          <p:cNvPr id="1620895419" name="Google Shape;150;g315eba490ab_6_77"/>
          <p:cNvSpPr txBox="1"/>
          <p:nvPr/>
        </p:nvSpPr>
        <p:spPr bwMode="auto">
          <a:xfrm>
            <a:off x="456270" y="3392634"/>
            <a:ext cx="6983934" cy="423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000" b="1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Оценка сложности переноса (идея механизма):</a:t>
            </a:r>
            <a:endParaRPr lang="ru-RU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29772295" name="TextBox 1129772294"/>
          <p:cNvSpPr txBox="1"/>
          <p:nvPr/>
        </p:nvSpPr>
        <p:spPr bwMode="auto">
          <a:xfrm>
            <a:off x="453342" y="2009732"/>
            <a:ext cx="825125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импорты библиотеки и создание клиента</a:t>
            </a:r>
            <a:endParaRPr dirty="0"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получение ключей/настроек</a:t>
            </a:r>
            <a:endParaRPr dirty="0"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вызовы модели и параметры</a:t>
            </a:r>
            <a:endParaRPr dirty="0"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разбор ответа и обработка ошибок</a:t>
            </a:r>
            <a:endParaRPr dirty="0">
              <a:latin typeface="Open Sans"/>
              <a:cs typeface="Open Sans"/>
            </a:endParaRPr>
          </a:p>
        </p:txBody>
      </p:sp>
      <p:sp>
        <p:nvSpPr>
          <p:cNvPr id="6" name="Google Shape;150;g315eba490ab_6_77"/>
          <p:cNvSpPr txBox="1"/>
          <p:nvPr/>
        </p:nvSpPr>
        <p:spPr bwMode="auto">
          <a:xfrm>
            <a:off x="456270" y="1693608"/>
            <a:ext cx="6983934" cy="423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000" b="1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Типовые точки изменения при миграции (что искать в коде):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455915" y="3668404"/>
            <a:ext cx="86880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низкая (</a:t>
            </a:r>
            <a:r>
              <a:rPr lang="en-US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+0</a:t>
            </a: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 баллов к сложности): один провайдер, простой запрос/ответ минимум обвязки</a:t>
            </a:r>
            <a:endParaRPr dirty="0"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8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с</a:t>
            </a: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редняя (+1 балл)</a:t>
            </a:r>
            <a:r>
              <a:rPr lang="ru-RU" sz="18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 несколько точек вызова, разные несложные функции</a:t>
            </a:r>
            <a:endParaRPr dirty="0"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высокая (+2 балла): сложные функции и обработка</a:t>
            </a:r>
            <a:r>
              <a:rPr lang="ru-RU" sz="18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,</a:t>
            </a: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sz="1800" b="0" i="0" u="none" strike="noStrike" cap="none" spc="0" dirty="0" err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распределённость</a:t>
            </a:r>
            <a:endParaRPr dirty="0">
              <a:latin typeface="Open Sans"/>
              <a:cs typeface="Open Sans"/>
            </a:endParaRPr>
          </a:p>
        </p:txBody>
      </p:sp>
      <p:sp>
        <p:nvSpPr>
          <p:cNvPr id="2" name="Google Shape;150;g315eba490ab_6_77"/>
          <p:cNvSpPr txBox="1"/>
          <p:nvPr/>
        </p:nvSpPr>
        <p:spPr bwMode="auto">
          <a:xfrm>
            <a:off x="456270" y="639364"/>
            <a:ext cx="6972775" cy="423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000" b="1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причины интеграции LLM (где проявляются различия):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260322-70F6-B333-F739-2414EA01B67B}"/>
              </a:ext>
            </a:extLst>
          </p:cNvPr>
          <p:cNvSpPr txBox="1"/>
          <p:nvPr/>
        </p:nvSpPr>
        <p:spPr bwMode="auto">
          <a:xfrm>
            <a:off x="8899899" y="464340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639384" name="Google Shape;149;g315eba490ab_6_7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560082" y="147348"/>
            <a:ext cx="1339817" cy="480117"/>
          </a:xfrm>
          <a:prstGeom prst="rect">
            <a:avLst/>
          </a:prstGeom>
          <a:noFill/>
          <a:ln>
            <a:noFill/>
          </a:ln>
        </p:spPr>
      </p:pic>
      <p:sp>
        <p:nvSpPr>
          <p:cNvPr id="1037909110" name="Google Shape;150;g315eba490ab_6_77"/>
          <p:cNvSpPr txBox="1"/>
          <p:nvPr/>
        </p:nvSpPr>
        <p:spPr bwMode="auto">
          <a:xfrm>
            <a:off x="459198" y="145017"/>
            <a:ext cx="6979614" cy="54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7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Реализованные решения</a:t>
            </a:r>
            <a:endParaRPr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grpSp>
        <p:nvGrpSpPr>
          <p:cNvPr id="932812029" name="Google Shape;151;g315eba490ab_6_77"/>
          <p:cNvGrpSpPr/>
          <p:nvPr/>
        </p:nvGrpSpPr>
        <p:grpSpPr bwMode="auto">
          <a:xfrm>
            <a:off x="-324154" y="4882215"/>
            <a:ext cx="9794021" cy="495630"/>
            <a:chOff x="0" y="0"/>
            <a:chExt cx="9794021" cy="495630"/>
          </a:xfrm>
        </p:grpSpPr>
        <p:sp>
          <p:nvSpPr>
            <p:cNvPr id="550794738" name="Google Shape;152;g315eba490ab_6_77"/>
            <p:cNvSpPr/>
            <p:nvPr/>
          </p:nvSpPr>
          <p:spPr bwMode="auto">
            <a:xfrm rot="5399942" flipH="1">
              <a:off x="4745291" y="-4421108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3" tIns="68573" rIns="68573" bIns="68573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876673843" name="Google Shape;153;g315eba490ab_6_77"/>
            <p:cNvSpPr txBox="1"/>
            <p:nvPr/>
          </p:nvSpPr>
          <p:spPr bwMode="auto">
            <a:xfrm rot="10799952" flipH="1">
              <a:off x="324147" y="18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3" tIns="34273" rIns="68573" bIns="34273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397622161" name="Google Shape;154;g315eba490ab_6_77"/>
            <p:cNvSpPr txBox="1"/>
            <p:nvPr/>
          </p:nvSpPr>
          <p:spPr bwMode="auto">
            <a:xfrm>
              <a:off x="0" y="0"/>
              <a:ext cx="9794021" cy="495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2" tIns="34272" rIns="68572" bIns="34272" anchor="t" anchorCtr="0">
              <a:sp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ru" sz="1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</a:rPr>
                <a:t>#сделанывАрктике #сделанывАрктике #сделанывАрктике #сделанывАрктике #сделанывАрктике #сделанывАрктике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endParaRPr>
            </a:p>
          </p:txBody>
        </p:sp>
      </p:grpSp>
      <p:sp>
        <p:nvSpPr>
          <p:cNvPr id="1190339376" name="Google Shape;155;g315eba490ab_6_77"/>
          <p:cNvSpPr txBox="1"/>
          <p:nvPr/>
        </p:nvSpPr>
        <p:spPr bwMode="auto">
          <a:xfrm>
            <a:off x="457709" y="711760"/>
            <a:ext cx="3077039" cy="329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Использование GigaChat и YandexGPT вместо OpenAI</a:t>
            </a:r>
            <a:endParaRPr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endParaRPr sz="1800">
              <a:solidFill>
                <a:schemeClr val="tx1"/>
              </a:solidFill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Оценка сложности переноса проекта</a:t>
            </a:r>
            <a:endParaRPr>
              <a:latin typeface="Open Sans"/>
              <a:cs typeface="Open Sans"/>
            </a:endParaRPr>
          </a:p>
          <a:p>
            <a:pPr marL="283878" indent="-283878" algn="l">
              <a:buAutoNum type="arabicParenR"/>
              <a:defRPr/>
            </a:pPr>
            <a:endParaRPr sz="1800" b="0" i="0" u="none" strike="noStrike" cap="none" spc="0">
              <a:solidFill>
                <a:schemeClr val="tx1"/>
              </a:solidFill>
              <a:latin typeface="Open Sans"/>
              <a:cs typeface="Open Sans"/>
            </a:endParaRPr>
          </a:p>
          <a:p>
            <a:pPr marL="283878" indent="-283878" algn="l">
              <a:buAutoNum type="arabicParenR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Автоматизация переноса проекта</a:t>
            </a:r>
            <a:endParaRPr>
              <a:latin typeface="Open Sans"/>
              <a:cs typeface="Open Sans"/>
            </a:endParaRPr>
          </a:p>
          <a:p>
            <a:pPr marL="283878" indent="-283878" algn="l">
              <a:buAutoNum type="arabicParenR"/>
              <a:defRPr/>
            </a:pPr>
            <a:endParaRPr sz="1800">
              <a:solidFill>
                <a:schemeClr val="tx1"/>
              </a:solidFill>
              <a:latin typeface="Open Sans"/>
              <a:cs typeface="Open Sans"/>
            </a:endParaRPr>
          </a:p>
          <a:p>
            <a:pPr marL="283878" indent="-283878" algn="l">
              <a:buAutoNum type="arabicParenR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Воспроизводимость с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Docker</a:t>
            </a:r>
            <a:endParaRPr sz="1800" b="0" i="0" u="none" strike="noStrike" cap="none" spc="0">
              <a:solidFill>
                <a:schemeClr val="tx1"/>
              </a:solidFill>
              <a:latin typeface="Open Sans"/>
              <a:cs typeface="Open Sans"/>
            </a:endParaRPr>
          </a:p>
          <a:p>
            <a:pPr marL="283878" indent="-283878" algn="l">
              <a:buAutoNum type="arabicParenR"/>
              <a:defRPr/>
            </a:pPr>
            <a:endParaRPr sz="1800">
              <a:solidFill>
                <a:schemeClr val="tx1"/>
              </a:solidFill>
              <a:latin typeface="Open Sans"/>
              <a:cs typeface="Open Sans"/>
            </a:endParaRPr>
          </a:p>
          <a:p>
            <a:pPr marL="283878" indent="-283878" algn="l">
              <a:buAutoNum type="arabicParenR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Программа-аннотатор</a:t>
            </a:r>
            <a:endParaRPr sz="1800" b="0" i="0" u="none" strike="noStrike" cap="none" spc="0">
              <a:solidFill>
                <a:schemeClr val="tx1"/>
              </a:solidFill>
              <a:latin typeface="Open Sans"/>
              <a:cs typeface="Open Sans"/>
            </a:endParaRPr>
          </a:p>
        </p:txBody>
      </p:sp>
      <p:grpSp>
        <p:nvGrpSpPr>
          <p:cNvPr id="381535991" name="Группа 381535990"/>
          <p:cNvGrpSpPr/>
          <p:nvPr/>
        </p:nvGrpSpPr>
        <p:grpSpPr bwMode="auto">
          <a:xfrm>
            <a:off x="6430600" y="80852"/>
            <a:ext cx="1476072" cy="590544"/>
            <a:chOff x="0" y="0"/>
            <a:chExt cx="1476072" cy="590544"/>
          </a:xfrm>
        </p:grpSpPr>
        <p:pic>
          <p:nvPicPr>
            <p:cNvPr id="519233754" name="Рисунок 519233753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5"/>
            </a:xfrm>
            <a:prstGeom prst="rect">
              <a:avLst/>
            </a:prstGeom>
          </p:spPr>
        </p:pic>
        <p:sp>
          <p:nvSpPr>
            <p:cNvPr id="1258740649" name="Прямоугольник 1258740648"/>
            <p:cNvSpPr/>
            <p:nvPr/>
          </p:nvSpPr>
          <p:spPr bwMode="auto">
            <a:xfrm>
              <a:off x="658818" y="66492"/>
              <a:ext cx="817254" cy="503276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1473447602" name="Стрелка: вправо 1473447601"/>
          <p:cNvSpPr/>
          <p:nvPr/>
        </p:nvSpPr>
        <p:spPr bwMode="auto">
          <a:xfrm>
            <a:off x="3700884" y="930744"/>
            <a:ext cx="295299" cy="22957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622486" name="TextBox 1066622485"/>
          <p:cNvSpPr txBox="1"/>
          <p:nvPr/>
        </p:nvSpPr>
        <p:spPr bwMode="auto">
          <a:xfrm>
            <a:off x="4134824" y="679591"/>
            <a:ext cx="5008164" cy="914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Преобразование OpenAI ориентированных LLM проектов под ключи и библиотеки </a:t>
            </a:r>
            <a:r>
              <a:rPr lang="ru-RU" sz="1800" b="0" i="0" u="none" strike="noStrike" cap="none" spc="0" dirty="0" err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GigaChat</a:t>
            </a:r>
            <a:r>
              <a:rPr lang="ru-RU" sz="18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 и </a:t>
            </a:r>
            <a:r>
              <a:rPr lang="ru-RU" sz="1800" b="0" i="0" u="none" strike="noStrike" cap="none" spc="0" dirty="0" err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YandexGPT</a:t>
            </a:r>
            <a:endParaRPr sz="2200" b="0" i="0" u="none" strike="noStrike" cap="none" spc="0" dirty="0">
              <a:solidFill>
                <a:schemeClr val="tx1"/>
              </a:solidFill>
              <a:latin typeface="Open Sans"/>
              <a:cs typeface="Open Sans"/>
            </a:endParaRPr>
          </a:p>
        </p:txBody>
      </p:sp>
      <p:sp>
        <p:nvSpPr>
          <p:cNvPr id="1323648597" name="Стрелка: вправо 1323648596"/>
          <p:cNvSpPr/>
          <p:nvPr/>
        </p:nvSpPr>
        <p:spPr bwMode="auto">
          <a:xfrm>
            <a:off x="3668725" y="1903090"/>
            <a:ext cx="295299" cy="22957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430225" name="TextBox 1417430224"/>
          <p:cNvSpPr txBox="1"/>
          <p:nvPr/>
        </p:nvSpPr>
        <p:spPr bwMode="auto">
          <a:xfrm>
            <a:off x="4200014" y="1719832"/>
            <a:ext cx="469988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Критерии оценки проектов по уровню сложности переноса</a:t>
            </a:r>
            <a:endParaRPr sz="2200" b="0" i="0" u="none" strike="noStrike" cap="none" spc="0">
              <a:solidFill>
                <a:schemeClr val="tx1"/>
              </a:solidFill>
              <a:latin typeface="Open Sans"/>
              <a:cs typeface="Open Sans"/>
            </a:endParaRPr>
          </a:p>
        </p:txBody>
      </p:sp>
      <p:sp>
        <p:nvSpPr>
          <p:cNvPr id="930533545" name="Стрелка: вправо 930533544"/>
          <p:cNvSpPr/>
          <p:nvPr/>
        </p:nvSpPr>
        <p:spPr bwMode="auto">
          <a:xfrm>
            <a:off x="3668724" y="2620067"/>
            <a:ext cx="295299" cy="22957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449139" name="TextBox 786449138"/>
          <p:cNvSpPr txBox="1"/>
          <p:nvPr/>
        </p:nvSpPr>
        <p:spPr bwMode="auto">
          <a:xfrm>
            <a:off x="4200014" y="2467338"/>
            <a:ext cx="49076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ru-RU" sz="18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Формализация правил и автоматическое выделение мест, требующих изменения</a:t>
            </a:r>
            <a:endParaRPr sz="1800" b="0" i="0" u="none" strike="noStrike" cap="none" spc="0">
              <a:solidFill>
                <a:schemeClr val="tx1"/>
              </a:solidFill>
              <a:latin typeface="Open Sans"/>
              <a:cs typeface="Open Sans"/>
            </a:endParaRPr>
          </a:p>
        </p:txBody>
      </p:sp>
      <p:sp>
        <p:nvSpPr>
          <p:cNvPr id="302295152" name="TextBox 302295151"/>
          <p:cNvSpPr txBox="1"/>
          <p:nvPr/>
        </p:nvSpPr>
        <p:spPr bwMode="auto">
          <a:xfrm>
            <a:off x="4200014" y="3300999"/>
            <a:ext cx="494189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перенос предыдущих решений в универсальную Docker среду</a:t>
            </a:r>
            <a:endParaRPr sz="2200" b="0" i="0" u="none" strike="noStrike" cap="none" spc="0">
              <a:solidFill>
                <a:schemeClr val="tx1"/>
              </a:solidFill>
              <a:latin typeface="Open Sans"/>
              <a:cs typeface="Open Sans"/>
            </a:endParaRPr>
          </a:p>
        </p:txBody>
      </p:sp>
      <p:sp>
        <p:nvSpPr>
          <p:cNvPr id="143223640" name="Стрелка: вправо 143223639"/>
          <p:cNvSpPr/>
          <p:nvPr/>
        </p:nvSpPr>
        <p:spPr bwMode="auto">
          <a:xfrm>
            <a:off x="3668723" y="3545285"/>
            <a:ext cx="295299" cy="22957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4200014" y="4101179"/>
            <a:ext cx="4908415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800" dirty="0">
                <a:latin typeface="Open Sans"/>
                <a:ea typeface="Open Sans"/>
                <a:cs typeface="Open Sans"/>
              </a:rPr>
              <a:t>Выходные артефакты: аннотированный код + отчёт о применённых правилах</a:t>
            </a:r>
            <a:endParaRPr dirty="0">
              <a:latin typeface="Open Sans"/>
              <a:cs typeface="Open Sans"/>
            </a:endParaRPr>
          </a:p>
        </p:txBody>
      </p:sp>
      <p:sp>
        <p:nvSpPr>
          <p:cNvPr id="4" name="Стрелка: вправо 3"/>
          <p:cNvSpPr/>
          <p:nvPr/>
        </p:nvSpPr>
        <p:spPr bwMode="auto">
          <a:xfrm>
            <a:off x="3653706" y="4355715"/>
            <a:ext cx="295299" cy="22957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7F12B3-26A4-99C5-D2DB-D9953BB1D74C}"/>
              </a:ext>
            </a:extLst>
          </p:cNvPr>
          <p:cNvSpPr txBox="1"/>
          <p:nvPr/>
        </p:nvSpPr>
        <p:spPr bwMode="auto">
          <a:xfrm>
            <a:off x="8899899" y="464340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435081" name="Google Shape;149;g315eba490ab_6_7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560081" y="147348"/>
            <a:ext cx="1339815" cy="480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0394519" name="Google Shape;151;g315eba490ab_6_77"/>
          <p:cNvGrpSpPr/>
          <p:nvPr/>
        </p:nvGrpSpPr>
        <p:grpSpPr bwMode="auto">
          <a:xfrm>
            <a:off x="-324153" y="4882212"/>
            <a:ext cx="9794019" cy="495630"/>
            <a:chOff x="0" y="0"/>
            <a:chExt cx="9794019" cy="495630"/>
          </a:xfrm>
        </p:grpSpPr>
        <p:sp>
          <p:nvSpPr>
            <p:cNvPr id="335651689" name="Google Shape;152;g315eba490ab_6_77"/>
            <p:cNvSpPr/>
            <p:nvPr/>
          </p:nvSpPr>
          <p:spPr bwMode="auto">
            <a:xfrm rot="5399875" flipH="1">
              <a:off x="4745289" y="-4421106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1" tIns="68571" rIns="68571" bIns="68571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23599736" name="Google Shape;153;g315eba490ab_6_77"/>
            <p:cNvSpPr txBox="1"/>
            <p:nvPr/>
          </p:nvSpPr>
          <p:spPr bwMode="auto">
            <a:xfrm rot="10799887" flipH="1">
              <a:off x="324145" y="18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67485497" name="Google Shape;154;g315eba490ab_6_77"/>
            <p:cNvSpPr txBox="1"/>
            <p:nvPr/>
          </p:nvSpPr>
          <p:spPr bwMode="auto">
            <a:xfrm>
              <a:off x="0" y="0"/>
              <a:ext cx="9794019" cy="495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t" anchorCtr="0">
              <a:sp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ru" sz="1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</a:rPr>
                <a:t>#сделанывАрктике #сделанывАрктике #сделанывАрктике #сделанывАрктике #сделанывАрктике #сделанывАрктике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6638546" name="Группа 1216638545"/>
          <p:cNvGrpSpPr/>
          <p:nvPr/>
        </p:nvGrpSpPr>
        <p:grpSpPr bwMode="auto">
          <a:xfrm>
            <a:off x="6430599" y="80849"/>
            <a:ext cx="1476072" cy="590544"/>
            <a:chOff x="0" y="0"/>
            <a:chExt cx="1476072" cy="590544"/>
          </a:xfrm>
        </p:grpSpPr>
        <p:pic>
          <p:nvPicPr>
            <p:cNvPr id="2028971857" name="Рисунок 2028971856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4"/>
            </a:xfrm>
            <a:prstGeom prst="rect">
              <a:avLst/>
            </a:prstGeom>
          </p:spPr>
        </p:pic>
        <p:sp>
          <p:nvSpPr>
            <p:cNvPr id="132550767" name="Прямоугольник 132550766"/>
            <p:cNvSpPr/>
            <p:nvPr/>
          </p:nvSpPr>
          <p:spPr bwMode="auto">
            <a:xfrm>
              <a:off x="658818" y="66492"/>
              <a:ext cx="817254" cy="503274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91112251" name="Google Shape;150;g315eba490ab_6_77"/>
          <p:cNvSpPr txBox="1"/>
          <p:nvPr/>
        </p:nvSpPr>
        <p:spPr bwMode="auto">
          <a:xfrm>
            <a:off x="459196" y="145017"/>
            <a:ext cx="6972412" cy="54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1" tIns="34272" rIns="68571" bIns="34272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7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Архитектура решения</a:t>
            </a:r>
            <a:endParaRPr lang="ru-RU" sz="2700"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0" y="1194816"/>
            <a:ext cx="9144000" cy="295046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C18300-EE18-05B4-8AB5-82697972E8A3}"/>
              </a:ext>
            </a:extLst>
          </p:cNvPr>
          <p:cNvSpPr txBox="1"/>
          <p:nvPr/>
        </p:nvSpPr>
        <p:spPr bwMode="auto">
          <a:xfrm>
            <a:off x="8899899" y="464340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435081" name="Google Shape;149;g315eba490ab_6_7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560081" y="147348"/>
            <a:ext cx="1339815" cy="480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0394519" name="Google Shape;151;g315eba490ab_6_77"/>
          <p:cNvGrpSpPr/>
          <p:nvPr/>
        </p:nvGrpSpPr>
        <p:grpSpPr bwMode="auto">
          <a:xfrm>
            <a:off x="-324153" y="4882212"/>
            <a:ext cx="9794019" cy="495630"/>
            <a:chOff x="0" y="0"/>
            <a:chExt cx="9794019" cy="495630"/>
          </a:xfrm>
        </p:grpSpPr>
        <p:sp>
          <p:nvSpPr>
            <p:cNvPr id="335651689" name="Google Shape;152;g315eba490ab_6_77"/>
            <p:cNvSpPr/>
            <p:nvPr/>
          </p:nvSpPr>
          <p:spPr bwMode="auto">
            <a:xfrm rot="5399875" flipH="1">
              <a:off x="4745289" y="-4421106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1" tIns="68571" rIns="68571" bIns="68571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23599736" name="Google Shape;153;g315eba490ab_6_77"/>
            <p:cNvSpPr txBox="1"/>
            <p:nvPr/>
          </p:nvSpPr>
          <p:spPr bwMode="auto">
            <a:xfrm rot="10799887" flipH="1">
              <a:off x="324145" y="18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67485497" name="Google Shape;154;g315eba490ab_6_77"/>
            <p:cNvSpPr txBox="1"/>
            <p:nvPr/>
          </p:nvSpPr>
          <p:spPr bwMode="auto">
            <a:xfrm>
              <a:off x="0" y="0"/>
              <a:ext cx="9794019" cy="495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t" anchorCtr="0">
              <a:sp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ru" sz="1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</a:rPr>
                <a:t>#сделанывАрктике #сделанывАрктике #сделанывАрктике #сделанывАрктике #сделанывАрктике #сделанывАрктике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6638546" name="Группа 1216638545"/>
          <p:cNvGrpSpPr/>
          <p:nvPr/>
        </p:nvGrpSpPr>
        <p:grpSpPr bwMode="auto">
          <a:xfrm>
            <a:off x="6430599" y="80849"/>
            <a:ext cx="1476072" cy="590544"/>
            <a:chOff x="0" y="0"/>
            <a:chExt cx="1476072" cy="590544"/>
          </a:xfrm>
        </p:grpSpPr>
        <p:pic>
          <p:nvPicPr>
            <p:cNvPr id="2028971857" name="Рисунок 2028971856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4"/>
            </a:xfrm>
            <a:prstGeom prst="rect">
              <a:avLst/>
            </a:prstGeom>
          </p:spPr>
        </p:pic>
        <p:sp>
          <p:nvSpPr>
            <p:cNvPr id="132550767" name="Прямоугольник 132550766"/>
            <p:cNvSpPr/>
            <p:nvPr/>
          </p:nvSpPr>
          <p:spPr bwMode="auto">
            <a:xfrm>
              <a:off x="658818" y="66492"/>
              <a:ext cx="817254" cy="503274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91112251" name="Google Shape;150;g315eba490ab_6_77"/>
          <p:cNvSpPr txBox="1"/>
          <p:nvPr/>
        </p:nvSpPr>
        <p:spPr bwMode="auto">
          <a:xfrm>
            <a:off x="459195" y="145017"/>
            <a:ext cx="7447475" cy="54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1" tIns="34272" rIns="68571" bIns="34272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7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Структуры данных</a:t>
            </a:r>
            <a:endParaRPr lang="ru-RU" sz="2700"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542553" y="709572"/>
            <a:ext cx="79078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ru-RU" sz="1600" dirty="0" err="1">
                <a:latin typeface="Open Sans"/>
                <a:ea typeface="Open Sans"/>
                <a:cs typeface="Open Sans"/>
              </a:rPr>
              <a:t>id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— идентификатор (используется в аннотациях и отчёте)</a:t>
            </a:r>
            <a:endParaRPr sz="1600" dirty="0">
              <a:latin typeface="Open Sans"/>
              <a:cs typeface="Open Sans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1600" dirty="0" err="1">
                <a:latin typeface="Open Sans"/>
                <a:ea typeface="Open Sans"/>
                <a:cs typeface="Open Sans"/>
              </a:rPr>
              <a:t>pattern_type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— тип найденного фрагмента (например: </a:t>
            </a:r>
            <a:r>
              <a:rPr lang="ru-RU" sz="1600" dirty="0" err="1">
                <a:latin typeface="Open Sans"/>
                <a:ea typeface="Open Sans"/>
                <a:cs typeface="Open Sans"/>
              </a:rPr>
              <a:t>response</a:t>
            </a:r>
            <a:r>
              <a:rPr lang="ru-RU" sz="1600" dirty="0">
                <a:latin typeface="Open Sans"/>
                <a:ea typeface="Open Sans"/>
                <a:cs typeface="Open Sans"/>
              </a:rPr>
              <a:t>/</a:t>
            </a:r>
            <a:r>
              <a:rPr lang="ru-RU" sz="1600" dirty="0" err="1">
                <a:latin typeface="Open Sans"/>
                <a:ea typeface="Open Sans"/>
                <a:cs typeface="Open Sans"/>
              </a:rPr>
              <a:t>auth</a:t>
            </a:r>
            <a:r>
              <a:rPr lang="ru-RU" sz="1600" dirty="0">
                <a:latin typeface="Open Sans"/>
                <a:ea typeface="Open Sans"/>
                <a:cs typeface="Open Sans"/>
              </a:rPr>
              <a:t>/</a:t>
            </a:r>
            <a:r>
              <a:rPr lang="en-US" sz="1600" dirty="0" err="1">
                <a:latin typeface="Open Sans"/>
                <a:ea typeface="Open Sans"/>
                <a:cs typeface="Open Sans"/>
              </a:rPr>
              <a:t>ui</a:t>
            </a:r>
            <a:r>
              <a:rPr lang="ru-RU" sz="1600" dirty="0">
                <a:latin typeface="Open Sans"/>
                <a:ea typeface="Open Sans"/>
                <a:cs typeface="Open Sans"/>
              </a:rPr>
              <a:t>)</a:t>
            </a:r>
            <a:endParaRPr sz="1600" dirty="0">
              <a:latin typeface="Open Sans"/>
              <a:cs typeface="Open Sans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1600" dirty="0" err="1">
                <a:latin typeface="Open Sans"/>
                <a:ea typeface="Open Sans"/>
                <a:cs typeface="Open Sans"/>
              </a:rPr>
              <a:t>comment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— </a:t>
            </a:r>
            <a:r>
              <a:rPr lang="ru-RU" sz="1600" dirty="0" err="1">
                <a:latin typeface="Open Sans"/>
                <a:ea typeface="Open Sans"/>
                <a:cs typeface="Open Sans"/>
              </a:rPr>
              <a:t>человекочитаемое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описание</a:t>
            </a:r>
            <a:endParaRPr sz="1600" dirty="0">
              <a:latin typeface="Open Sans"/>
              <a:cs typeface="Open Sans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1600" dirty="0" err="1">
                <a:latin typeface="Open Sans"/>
                <a:ea typeface="Open Sans"/>
                <a:cs typeface="Open Sans"/>
              </a:rPr>
              <a:t>find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— шаблон исходного кода с </a:t>
            </a:r>
            <a:r>
              <a:rPr lang="ru-RU" sz="1600" dirty="0" err="1">
                <a:latin typeface="Open Sans"/>
                <a:ea typeface="Open Sans"/>
                <a:cs typeface="Open Sans"/>
              </a:rPr>
              <a:t>плейсхолдерами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</a:t>
            </a:r>
            <a:r>
              <a:rPr lang="en-US" sz="1600" dirty="0">
                <a:latin typeface="Open Sans"/>
                <a:ea typeface="Open Sans"/>
                <a:cs typeface="Open Sans"/>
              </a:rPr>
              <a:t>“</a:t>
            </a:r>
            <a:r>
              <a:rPr lang="ru-RU" sz="1600" dirty="0">
                <a:latin typeface="Open Sans"/>
                <a:ea typeface="Open Sans"/>
                <a:cs typeface="Open Sans"/>
              </a:rPr>
              <a:t>$</a:t>
            </a:r>
            <a:r>
              <a:rPr lang="en-US" sz="1600" dirty="0">
                <a:latin typeface="Open Sans"/>
                <a:ea typeface="Open Sans"/>
                <a:cs typeface="Open Sans"/>
              </a:rPr>
              <a:t>...”</a:t>
            </a:r>
            <a:endParaRPr sz="1600" dirty="0">
              <a:latin typeface="Open Sans"/>
              <a:cs typeface="Open Sans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1600" dirty="0">
                <a:latin typeface="Open Sans"/>
                <a:ea typeface="Open Sans"/>
                <a:cs typeface="Open Sans"/>
              </a:rPr>
              <a:t>I</a:t>
            </a:r>
            <a:r>
              <a:rPr lang="ru-RU" sz="1600" dirty="0" err="1">
                <a:latin typeface="Open Sans"/>
                <a:ea typeface="Open Sans"/>
                <a:cs typeface="Open Sans"/>
              </a:rPr>
              <a:t>nsert.where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— правило вставки: </a:t>
            </a:r>
            <a:r>
              <a:rPr lang="en-US" sz="1600" dirty="0">
                <a:latin typeface="Open Sans"/>
                <a:ea typeface="Open Sans"/>
                <a:cs typeface="Open Sans"/>
              </a:rPr>
              <a:t>start/after</a:t>
            </a:r>
            <a:endParaRPr lang="ru-RU" sz="1600" dirty="0">
              <a:latin typeface="Open Sans"/>
              <a:ea typeface="Open Sans"/>
              <a:cs typeface="Open Sans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1600" dirty="0">
                <a:latin typeface="Open Sans"/>
                <a:ea typeface="Open Sans"/>
                <a:cs typeface="Open Sans"/>
              </a:rPr>
              <a:t>I</a:t>
            </a:r>
            <a:r>
              <a:rPr lang="ru-RU" sz="1600" dirty="0" err="1">
                <a:latin typeface="Open Sans"/>
                <a:ea typeface="Open Sans"/>
                <a:cs typeface="Open Sans"/>
              </a:rPr>
              <a:t>nsert</a:t>
            </a:r>
            <a:r>
              <a:rPr lang="en-US" sz="1600" dirty="0">
                <a:latin typeface="Open Sans"/>
                <a:ea typeface="Open Sans"/>
                <a:cs typeface="Open Sans"/>
              </a:rPr>
              <a:t>.</a:t>
            </a:r>
            <a:r>
              <a:rPr lang="ru-RU" sz="1600" dirty="0" err="1">
                <a:latin typeface="Open Sans"/>
                <a:ea typeface="Open Sans"/>
                <a:cs typeface="Open Sans"/>
              </a:rPr>
              <a:t>text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— правило вставки: что добавить</a:t>
            </a:r>
            <a:endParaRPr sz="1600" dirty="0">
              <a:latin typeface="Open Sans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BD491D-4A2B-1A07-D194-7741EC83DA5D}"/>
              </a:ext>
            </a:extLst>
          </p:cNvPr>
          <p:cNvSpPr txBox="1"/>
          <p:nvPr/>
        </p:nvSpPr>
        <p:spPr bwMode="auto">
          <a:xfrm>
            <a:off x="8899899" y="464340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8F7B44-70FC-26BF-CCF5-579C8461C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3" y="2859314"/>
            <a:ext cx="9124884" cy="17306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414891" y="521779"/>
            <a:ext cx="5847430" cy="3687364"/>
          </a:xfrm>
          <a:prstGeom prst="rect">
            <a:avLst/>
          </a:prstGeom>
          <a:noFill/>
        </p:spPr>
      </p:pic>
      <p:pic>
        <p:nvPicPr>
          <p:cNvPr id="1235435081" name="Google Shape;149;g315eba490ab_6_77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7560081" y="147348"/>
            <a:ext cx="1339815" cy="480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0394519" name="Google Shape;151;g315eba490ab_6_77"/>
          <p:cNvGrpSpPr/>
          <p:nvPr/>
        </p:nvGrpSpPr>
        <p:grpSpPr bwMode="auto">
          <a:xfrm>
            <a:off x="-324153" y="4882212"/>
            <a:ext cx="9794019" cy="495630"/>
            <a:chOff x="0" y="0"/>
            <a:chExt cx="9794019" cy="495630"/>
          </a:xfrm>
        </p:grpSpPr>
        <p:sp>
          <p:nvSpPr>
            <p:cNvPr id="335651689" name="Google Shape;152;g315eba490ab_6_77"/>
            <p:cNvSpPr/>
            <p:nvPr/>
          </p:nvSpPr>
          <p:spPr bwMode="auto">
            <a:xfrm rot="5399875" flipH="1">
              <a:off x="4745289" y="-4421106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1" tIns="68571" rIns="68571" bIns="68571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23599736" name="Google Shape;153;g315eba490ab_6_77"/>
            <p:cNvSpPr txBox="1"/>
            <p:nvPr/>
          </p:nvSpPr>
          <p:spPr bwMode="auto">
            <a:xfrm rot="10799887" flipH="1">
              <a:off x="324145" y="18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67485497" name="Google Shape;154;g315eba490ab_6_77"/>
            <p:cNvSpPr txBox="1"/>
            <p:nvPr/>
          </p:nvSpPr>
          <p:spPr bwMode="auto">
            <a:xfrm>
              <a:off x="0" y="0"/>
              <a:ext cx="9794019" cy="495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t" anchorCtr="0">
              <a:sp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ru" sz="1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</a:rPr>
                <a:t>#сделанывАрктике #сделанывАрктике #сделанывАрктике #сделанывАрктике #сделанывАрктике #сделанывАрктике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6638546" name="Группа 1216638545"/>
          <p:cNvGrpSpPr/>
          <p:nvPr/>
        </p:nvGrpSpPr>
        <p:grpSpPr bwMode="auto">
          <a:xfrm>
            <a:off x="6430599" y="80849"/>
            <a:ext cx="1476072" cy="590544"/>
            <a:chOff x="0" y="0"/>
            <a:chExt cx="1476072" cy="590544"/>
          </a:xfrm>
        </p:grpSpPr>
        <p:pic>
          <p:nvPicPr>
            <p:cNvPr id="2028971857" name="Рисунок 2028971856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0" y="0"/>
              <a:ext cx="742950" cy="590544"/>
            </a:xfrm>
            <a:prstGeom prst="rect">
              <a:avLst/>
            </a:prstGeom>
          </p:spPr>
        </p:pic>
        <p:sp>
          <p:nvSpPr>
            <p:cNvPr id="132550767" name="Прямоугольник 132550766"/>
            <p:cNvSpPr/>
            <p:nvPr/>
          </p:nvSpPr>
          <p:spPr bwMode="auto">
            <a:xfrm>
              <a:off x="658818" y="66492"/>
              <a:ext cx="817254" cy="503274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91112251" name="Google Shape;150;g315eba490ab_6_77"/>
          <p:cNvSpPr txBox="1"/>
          <p:nvPr/>
        </p:nvSpPr>
        <p:spPr bwMode="auto">
          <a:xfrm>
            <a:off x="459196" y="145017"/>
            <a:ext cx="6972412" cy="54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1" tIns="34272" rIns="68571" bIns="34272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7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Алгоритм </a:t>
            </a:r>
            <a:r>
              <a:rPr lang="ru-RU" sz="2700" b="1" i="0" u="none" strike="noStrike" cap="none" spc="0" dirty="0" err="1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аннотатора</a:t>
            </a:r>
            <a:endParaRPr lang="ru-RU" sz="2700"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0" y="2260788"/>
            <a:ext cx="2346415" cy="2322793"/>
          </a:xfrm>
          <a:prstGeom prst="rect">
            <a:avLst/>
          </a:prstGeom>
          <a:noFill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6833859" y="2185240"/>
            <a:ext cx="2145623" cy="2655399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B8F81F-A9EF-63B2-8F59-A0BE046D7787}"/>
              </a:ext>
            </a:extLst>
          </p:cNvPr>
          <p:cNvSpPr txBox="1"/>
          <p:nvPr/>
        </p:nvSpPr>
        <p:spPr bwMode="auto">
          <a:xfrm>
            <a:off x="8899899" y="464340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435081" name="Google Shape;149;g315eba490ab_6_7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560081" y="147348"/>
            <a:ext cx="1339815" cy="480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0394519" name="Google Shape;151;g315eba490ab_6_77"/>
          <p:cNvGrpSpPr/>
          <p:nvPr/>
        </p:nvGrpSpPr>
        <p:grpSpPr bwMode="auto">
          <a:xfrm>
            <a:off x="-324153" y="4882212"/>
            <a:ext cx="9794019" cy="495630"/>
            <a:chOff x="0" y="0"/>
            <a:chExt cx="9794019" cy="495630"/>
          </a:xfrm>
        </p:grpSpPr>
        <p:sp>
          <p:nvSpPr>
            <p:cNvPr id="335651689" name="Google Shape;152;g315eba490ab_6_77"/>
            <p:cNvSpPr/>
            <p:nvPr/>
          </p:nvSpPr>
          <p:spPr bwMode="auto">
            <a:xfrm rot="5399875" flipH="1">
              <a:off x="4745289" y="-4421106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1" tIns="68571" rIns="68571" bIns="68571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23599736" name="Google Shape;153;g315eba490ab_6_77"/>
            <p:cNvSpPr txBox="1"/>
            <p:nvPr/>
          </p:nvSpPr>
          <p:spPr bwMode="auto">
            <a:xfrm rot="10799887" flipH="1">
              <a:off x="324145" y="18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67485497" name="Google Shape;154;g315eba490ab_6_77"/>
            <p:cNvSpPr txBox="1"/>
            <p:nvPr/>
          </p:nvSpPr>
          <p:spPr bwMode="auto">
            <a:xfrm>
              <a:off x="0" y="0"/>
              <a:ext cx="9794019" cy="495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t" anchorCtr="0">
              <a:sp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ru" sz="1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</a:rPr>
                <a:t>#сделанывАрктике #сделанывАрктике #сделанывАрктике #сделанывАрктике #сделанывАрктике #сделанывАрктике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6638546" name="Группа 1216638545"/>
          <p:cNvGrpSpPr/>
          <p:nvPr/>
        </p:nvGrpSpPr>
        <p:grpSpPr bwMode="auto">
          <a:xfrm>
            <a:off x="6430599" y="80849"/>
            <a:ext cx="1476072" cy="590544"/>
            <a:chOff x="0" y="0"/>
            <a:chExt cx="1476072" cy="590544"/>
          </a:xfrm>
        </p:grpSpPr>
        <p:pic>
          <p:nvPicPr>
            <p:cNvPr id="2028971857" name="Рисунок 2028971856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4"/>
            </a:xfrm>
            <a:prstGeom prst="rect">
              <a:avLst/>
            </a:prstGeom>
          </p:spPr>
        </p:pic>
        <p:sp>
          <p:nvSpPr>
            <p:cNvPr id="132550767" name="Прямоугольник 132550766"/>
            <p:cNvSpPr/>
            <p:nvPr/>
          </p:nvSpPr>
          <p:spPr bwMode="auto">
            <a:xfrm>
              <a:off x="658818" y="66492"/>
              <a:ext cx="817254" cy="503274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91112251" name="Google Shape;150;g315eba490ab_6_77"/>
          <p:cNvSpPr txBox="1"/>
          <p:nvPr/>
        </p:nvSpPr>
        <p:spPr bwMode="auto">
          <a:xfrm>
            <a:off x="459196" y="145017"/>
            <a:ext cx="6972412" cy="54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1" tIns="34272" rIns="68571" bIns="34272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700" b="1" dirty="0">
                <a:solidFill>
                  <a:srgbClr val="0064BE"/>
                </a:solidFill>
                <a:latin typeface="Montserrat ExtraBold" panose="00000900000000000000" pitchFamily="2" charset="-52"/>
                <a:cs typeface="Calibri"/>
              </a:rPr>
              <a:t>Запуск и интерфейс</a:t>
            </a:r>
            <a:endParaRPr lang="ru-RU" sz="2700"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-13" y="1181977"/>
            <a:ext cx="9144000" cy="31455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 bwMode="auto">
          <a:xfrm>
            <a:off x="100903" y="650614"/>
            <a:ext cx="4631430" cy="335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1600" dirty="0">
                <a:latin typeface="Open Sans"/>
                <a:ea typeface="Open Sans"/>
                <a:cs typeface="Open Sans"/>
              </a:rPr>
              <a:t>Команда построения докера для </a:t>
            </a:r>
            <a:r>
              <a:rPr lang="ru-RU" sz="1600" dirty="0" err="1">
                <a:latin typeface="Open Sans"/>
                <a:ea typeface="Open Sans"/>
                <a:cs typeface="Open Sans"/>
              </a:rPr>
              <a:t>аннотатора</a:t>
            </a:r>
            <a:endParaRPr sz="1600" dirty="0">
              <a:latin typeface="Open Sans"/>
              <a:cs typeface="Open Sans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363522" y="4557110"/>
            <a:ext cx="4705741" cy="335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1600">
                <a:latin typeface="Open Sans"/>
                <a:ea typeface="Open Sans"/>
                <a:cs typeface="Open Sans"/>
              </a:rPr>
              <a:t>Команда запуска аннотатора и краткий отчёт</a:t>
            </a:r>
            <a:endParaRPr>
              <a:latin typeface="Open Sans"/>
              <a:cs typeface="Open Sans"/>
            </a:endParaRPr>
          </a:p>
        </p:txBody>
      </p:sp>
      <p:sp>
        <p:nvSpPr>
          <p:cNvPr id="14" name="Стрелка: влево 13"/>
          <p:cNvSpPr/>
          <p:nvPr/>
        </p:nvSpPr>
        <p:spPr bwMode="auto">
          <a:xfrm rot="16199998">
            <a:off x="2298728" y="999920"/>
            <a:ext cx="261480" cy="1339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" name="Стрелка: влево 14"/>
          <p:cNvSpPr/>
          <p:nvPr/>
        </p:nvSpPr>
        <p:spPr bwMode="auto">
          <a:xfrm rot="5400000">
            <a:off x="2785771" y="4411190"/>
            <a:ext cx="261480" cy="1339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2AD49-72E8-F895-2DD0-75E8BF2DE37C}"/>
              </a:ext>
            </a:extLst>
          </p:cNvPr>
          <p:cNvSpPr txBox="1"/>
          <p:nvPr/>
        </p:nvSpPr>
        <p:spPr bwMode="auto">
          <a:xfrm>
            <a:off x="8899899" y="464340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418246" name="Google Shape;149;g315eba490ab_6_7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560081" y="147348"/>
            <a:ext cx="1339815" cy="480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625477" name="Google Shape;151;g315eba490ab_6_77"/>
          <p:cNvGrpSpPr/>
          <p:nvPr/>
        </p:nvGrpSpPr>
        <p:grpSpPr bwMode="auto">
          <a:xfrm>
            <a:off x="-324153" y="4882212"/>
            <a:ext cx="9794019" cy="495630"/>
            <a:chOff x="0" y="0"/>
            <a:chExt cx="9794019" cy="495630"/>
          </a:xfrm>
        </p:grpSpPr>
        <p:sp>
          <p:nvSpPr>
            <p:cNvPr id="1662298469" name="Google Shape;152;g315eba490ab_6_77"/>
            <p:cNvSpPr/>
            <p:nvPr/>
          </p:nvSpPr>
          <p:spPr bwMode="auto">
            <a:xfrm rot="5399875" flipH="1">
              <a:off x="4745289" y="-4421106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1" tIns="68571" rIns="68571" bIns="68571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80261099" name="Google Shape;153;g315eba490ab_6_77"/>
            <p:cNvSpPr txBox="1"/>
            <p:nvPr/>
          </p:nvSpPr>
          <p:spPr bwMode="auto">
            <a:xfrm rot="10799887" flipH="1">
              <a:off x="324145" y="18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32013636" name="Google Shape;154;g315eba490ab_6_77"/>
            <p:cNvSpPr txBox="1"/>
            <p:nvPr/>
          </p:nvSpPr>
          <p:spPr bwMode="auto">
            <a:xfrm>
              <a:off x="0" y="0"/>
              <a:ext cx="9794019" cy="495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1" tIns="34272" rIns="68571" bIns="34272" anchor="t" anchorCtr="0">
              <a:sp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ru" sz="1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</a:rPr>
                <a:t>#сделанывАрктике #сделанывАрктике #сделанывАрктике #сделанывАрктике #сделанывАрктике #сделанывАрктике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68664066" name="Группа 1268664065"/>
          <p:cNvGrpSpPr/>
          <p:nvPr/>
        </p:nvGrpSpPr>
        <p:grpSpPr bwMode="auto">
          <a:xfrm>
            <a:off x="6430599" y="80849"/>
            <a:ext cx="1476072" cy="590544"/>
            <a:chOff x="0" y="0"/>
            <a:chExt cx="1476072" cy="590544"/>
          </a:xfrm>
        </p:grpSpPr>
        <p:pic>
          <p:nvPicPr>
            <p:cNvPr id="588291170" name="Рисунок 588291169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4"/>
            </a:xfrm>
            <a:prstGeom prst="rect">
              <a:avLst/>
            </a:prstGeom>
          </p:spPr>
        </p:pic>
        <p:sp>
          <p:nvSpPr>
            <p:cNvPr id="930769476" name="Прямоугольник 930769475"/>
            <p:cNvSpPr/>
            <p:nvPr/>
          </p:nvSpPr>
          <p:spPr bwMode="auto">
            <a:xfrm>
              <a:off x="658818" y="66492"/>
              <a:ext cx="817254" cy="503274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1823400883" name="Google Shape;150;g315eba490ab_6_77"/>
          <p:cNvSpPr txBox="1"/>
          <p:nvPr/>
        </p:nvSpPr>
        <p:spPr bwMode="auto">
          <a:xfrm>
            <a:off x="459198" y="145017"/>
            <a:ext cx="6970253" cy="54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2" tIns="34272" rIns="68572" bIns="34272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7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Эксперимент</a:t>
            </a:r>
            <a:endParaRPr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476"/>
              </p:ext>
            </p:extLst>
          </p:nvPr>
        </p:nvGraphicFramePr>
        <p:xfrm>
          <a:off x="87078" y="595867"/>
          <a:ext cx="8969827" cy="43178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0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8898"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Проект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Краткое описание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>
                          <a:latin typeface="Open Sans"/>
                          <a:ea typeface="Open Sans"/>
                          <a:cs typeface="Open Sans"/>
                        </a:rPr>
                        <a:t>Целевая платформа</a:t>
                      </a:r>
                      <a:endParaRPr sz="1400" b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>
                          <a:latin typeface="Open Sans"/>
                          <a:ea typeface="Open Sans"/>
                          <a:cs typeface="Open Sans"/>
                        </a:rPr>
                        <a:t>Сложность</a:t>
                      </a:r>
                      <a:endParaRPr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>
                          <a:latin typeface="Open Sans"/>
                          <a:ea typeface="Open Sans"/>
                          <a:cs typeface="Open Sans"/>
                        </a:rPr>
                        <a:t>Выводы по эксперименту</a:t>
                      </a:r>
                      <a:endParaRPr sz="1400" b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110"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en-US" sz="1400" b="0">
                          <a:latin typeface="Open Sans"/>
                          <a:ea typeface="Open Sans"/>
                          <a:cs typeface="Open Sans"/>
                        </a:rPr>
                        <a:t>Quick</a:t>
                      </a:r>
                    </a:p>
                    <a:p>
                      <a:pPr algn="just">
                        <a:defRPr/>
                      </a:pPr>
                      <a:r>
                        <a:rPr lang="en-US" sz="1400" b="0">
                          <a:latin typeface="Open Sans"/>
                          <a:ea typeface="Open Sans"/>
                          <a:cs typeface="Open Sans"/>
                        </a:rPr>
                        <a:t>Start App</a:t>
                      </a:r>
                      <a:endParaRPr sz="1400" b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Минимальный прототип “запрос–ответ” через </a:t>
                      </a:r>
                      <a:r>
                        <a:rPr lang="ru-RU" sz="1400" b="0" dirty="0" err="1">
                          <a:latin typeface="Open Sans"/>
                          <a:ea typeface="Open Sans"/>
                          <a:cs typeface="Open Sans"/>
                        </a:rPr>
                        <a:t>LangChain</a:t>
                      </a: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 OpenAI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en-US" sz="1400" b="0" dirty="0" err="1">
                          <a:latin typeface="Open Sans"/>
                          <a:ea typeface="Open Sans"/>
                          <a:cs typeface="Open Sans"/>
                        </a:rPr>
                        <a:t>GigaChat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0 баллов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Найдены основные узлы: импорт, ввод ключа, вызов модели, проверка. Часть правил сработала ожидаемо. Ограничение: правило вызова модели сработало из-за точного совпадения строки (</a:t>
                      </a:r>
                      <a:r>
                        <a:rPr lang="ru-RU" sz="1400" b="0" dirty="0" err="1">
                          <a:latin typeface="Open Sans"/>
                          <a:ea typeface="Open Sans"/>
                          <a:cs typeface="Open Sans"/>
                        </a:rPr>
                        <a:t>temperature</a:t>
                      </a: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=0.7); при других значениях/параметрах возможно несрабатывание.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3110"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en-US" sz="1400" b="0">
                          <a:latin typeface="Open Sans"/>
                          <a:ea typeface="Open Sans"/>
                          <a:cs typeface="Open Sans"/>
                        </a:rPr>
                        <a:t>Chatbot</a:t>
                      </a: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>
                          <a:latin typeface="Open Sans"/>
                          <a:ea typeface="Open Sans"/>
                          <a:cs typeface="Open Sans"/>
                        </a:rPr>
                        <a:t>Чат с историей сообщений, OpenAI SDK</a:t>
                      </a:r>
                      <a:endParaRPr sz="1400" b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en-US" sz="1400" b="0" dirty="0" err="1">
                          <a:latin typeface="Open Sans"/>
                          <a:ea typeface="Open Sans"/>
                          <a:cs typeface="Open Sans"/>
                        </a:rPr>
                        <a:t>GigaChat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>
                          <a:latin typeface="Open Sans"/>
                          <a:ea typeface="Open Sans"/>
                          <a:cs typeface="Open Sans"/>
                        </a:rPr>
                        <a:t>1 балл</a:t>
                      </a:r>
                      <a:endParaRPr sz="1400" b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Отмечены проверка ключа и извлечение ответа, добавлена подсказка по импортам. Ограничение покрытия: создание клиента OpenAI(</a:t>
                      </a:r>
                      <a:r>
                        <a:rPr lang="en-US" sz="1400" b="0" dirty="0">
                          <a:latin typeface="Open Sans"/>
                          <a:ea typeface="Open Sans"/>
                          <a:cs typeface="Open Sans"/>
                        </a:rPr>
                        <a:t>model</a:t>
                      </a: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=...) не фиксируется без отдельного шаблона → нужны правила под разные варианты инициализации.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1181"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en-US" sz="1400" b="0" dirty="0">
                          <a:latin typeface="Open Sans"/>
                          <a:ea typeface="Open Sans"/>
                          <a:cs typeface="Open Sans"/>
                        </a:rPr>
                        <a:t>Chat with search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>
                          <a:latin typeface="Open Sans"/>
                          <a:ea typeface="Open Sans"/>
                          <a:cs typeface="Open Sans"/>
                        </a:rPr>
                        <a:t>Агент с веб-поиском и отображением истории чата</a:t>
                      </a:r>
                      <a:endParaRPr sz="1400" b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en-US" sz="1400" b="0" dirty="0" err="1">
                          <a:latin typeface="Open Sans"/>
                          <a:ea typeface="Open Sans"/>
                          <a:cs typeface="Open Sans"/>
                        </a:rPr>
                        <a:t>YandexGPT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>
                          <a:latin typeface="Open Sans"/>
                          <a:ea typeface="Open Sans"/>
                          <a:cs typeface="Open Sans"/>
                        </a:rPr>
                        <a:t>2 балла</a:t>
                      </a:r>
                      <a:endParaRPr sz="1400" b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defRPr/>
                      </a:pP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Корректно отмечены ключевые изменения: замена импорта, параметры доступа, проверки наличия параметров, замена инициализации LLM на </a:t>
                      </a:r>
                      <a:r>
                        <a:rPr lang="ru-RU" sz="1400" b="0" dirty="0" err="1">
                          <a:latin typeface="Open Sans"/>
                          <a:ea typeface="Open Sans"/>
                          <a:cs typeface="Open Sans"/>
                        </a:rPr>
                        <a:t>YandexGPT</a:t>
                      </a: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. Логика агента/поиска/</a:t>
                      </a:r>
                      <a:r>
                        <a:rPr lang="ru-RU" sz="1400" b="0" dirty="0" err="1">
                          <a:latin typeface="Open Sans"/>
                          <a:ea typeface="Open Sans"/>
                          <a:cs typeface="Open Sans"/>
                        </a:rPr>
                        <a:t>Streamlit</a:t>
                      </a:r>
                      <a:r>
                        <a:rPr lang="ru-RU" sz="1400" b="0" dirty="0">
                          <a:latin typeface="Open Sans"/>
                          <a:ea typeface="Open Sans"/>
                          <a:cs typeface="Open Sans"/>
                        </a:rPr>
                        <a:t> не затрагивается. Ограничение: аналогично предыдущим экспериментам</a:t>
                      </a:r>
                      <a:endParaRPr sz="1400" b="0" dirty="0">
                        <a:latin typeface="Open Sans"/>
                        <a:cs typeface="Open Sans"/>
                      </a:endParaRPr>
                    </a:p>
                  </a:txBody>
                  <a:tcPr marL="19862" marR="19862" marT="9931" marB="9931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46A364E-CE4D-B47E-9F7C-CAFA704594D9}"/>
              </a:ext>
            </a:extLst>
          </p:cNvPr>
          <p:cNvSpPr txBox="1"/>
          <p:nvPr/>
        </p:nvSpPr>
        <p:spPr bwMode="auto">
          <a:xfrm>
            <a:off x="8899899" y="4643405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5232678" name="Google Shape;149;g315eba490ab_6_7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7560082" y="147348"/>
            <a:ext cx="1339817" cy="480117"/>
          </a:xfrm>
          <a:prstGeom prst="rect">
            <a:avLst/>
          </a:prstGeom>
          <a:noFill/>
          <a:ln>
            <a:noFill/>
          </a:ln>
        </p:spPr>
      </p:pic>
      <p:sp>
        <p:nvSpPr>
          <p:cNvPr id="1956015979" name="Google Shape;150;g315eba490ab_6_77"/>
          <p:cNvSpPr txBox="1"/>
          <p:nvPr/>
        </p:nvSpPr>
        <p:spPr bwMode="auto">
          <a:xfrm>
            <a:off x="459198" y="145018"/>
            <a:ext cx="6969534" cy="54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lvl="0">
              <a:lnSpc>
                <a:spcPct val="114999"/>
              </a:lnSpc>
              <a:defRPr/>
            </a:pPr>
            <a:r>
              <a:rPr lang="ru-RU" sz="2700" b="1" i="0" u="none" strike="noStrike" cap="none" spc="0" dirty="0">
                <a:solidFill>
                  <a:srgbClr val="0064BE"/>
                </a:solidFill>
                <a:latin typeface="Montserrat ExtraBold" panose="00000900000000000000" pitchFamily="2" charset="-52"/>
                <a:ea typeface="Calibri"/>
                <a:cs typeface="Calibri"/>
              </a:rPr>
              <a:t>Заключение</a:t>
            </a:r>
            <a:endParaRPr dirty="0">
              <a:solidFill>
                <a:srgbClr val="0064BE"/>
              </a:solidFill>
              <a:latin typeface="Montserrat ExtraBold" panose="00000900000000000000" pitchFamily="2" charset="-52"/>
              <a:cs typeface="Calibri"/>
            </a:endParaRPr>
          </a:p>
        </p:txBody>
      </p:sp>
      <p:grpSp>
        <p:nvGrpSpPr>
          <p:cNvPr id="16983227" name="Google Shape;151;g315eba490ab_6_77"/>
          <p:cNvGrpSpPr/>
          <p:nvPr/>
        </p:nvGrpSpPr>
        <p:grpSpPr bwMode="auto">
          <a:xfrm>
            <a:off x="-324154" y="4882215"/>
            <a:ext cx="9794021" cy="495630"/>
            <a:chOff x="0" y="0"/>
            <a:chExt cx="9794021" cy="495630"/>
          </a:xfrm>
        </p:grpSpPr>
        <p:sp>
          <p:nvSpPr>
            <p:cNvPr id="1858205259" name="Google Shape;152;g315eba490ab_6_77"/>
            <p:cNvSpPr/>
            <p:nvPr/>
          </p:nvSpPr>
          <p:spPr bwMode="auto">
            <a:xfrm rot="5399942" flipH="1">
              <a:off x="4745291" y="-4421108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3" tIns="68573" rIns="68573" bIns="68573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85410558" name="Google Shape;153;g315eba490ab_6_77"/>
            <p:cNvSpPr txBox="1"/>
            <p:nvPr/>
          </p:nvSpPr>
          <p:spPr bwMode="auto">
            <a:xfrm rot="10799952" flipH="1">
              <a:off x="324147" y="18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3" tIns="34273" rIns="68573" bIns="34273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2270961" name="Google Shape;154;g315eba490ab_6_77"/>
            <p:cNvSpPr txBox="1"/>
            <p:nvPr/>
          </p:nvSpPr>
          <p:spPr bwMode="auto">
            <a:xfrm>
              <a:off x="0" y="0"/>
              <a:ext cx="9794021" cy="495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2" tIns="34272" rIns="68572" bIns="34272" anchor="t" anchorCtr="0">
              <a:sp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ru" sz="1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</a:rPr>
                <a:t>#сделанывАрктике #сделанывАрктике #сделанывАрктике #сделанывАрктике #сделанывАрктике #сделанывАрктике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endParaRPr>
            </a:p>
          </p:txBody>
        </p:sp>
      </p:grpSp>
      <p:sp>
        <p:nvSpPr>
          <p:cNvPr id="158500599" name="Google Shape;155;g315eba490ab_6_77"/>
          <p:cNvSpPr txBox="1"/>
          <p:nvPr/>
        </p:nvSpPr>
        <p:spPr bwMode="auto">
          <a:xfrm>
            <a:off x="459198" y="627465"/>
            <a:ext cx="8619102" cy="329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91422" rIns="91422" bIns="91422" anchor="t" anchorCtr="0">
            <a:noAutofit/>
          </a:bodyPr>
          <a:lstStyle/>
          <a:p>
            <a:pPr>
              <a:defRPr/>
            </a:pPr>
            <a:r>
              <a:rPr lang="ru-RU" sz="1600" b="1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В рамках исследования выполнено:</a:t>
            </a:r>
            <a:endParaRPr sz="1600" dirty="0">
              <a:latin typeface="Open Sans"/>
              <a:cs typeface="Open Sans"/>
            </a:endParaRPr>
          </a:p>
          <a:p>
            <a:pPr marL="283878" indent="-283878">
              <a:buAutoNum type="arabicParenR"/>
              <a:defRPr/>
            </a:pP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Выделены типовые точки изменения при миграции и формализованы признаки привязки к провайдеру</a:t>
            </a:r>
            <a:endParaRPr sz="1600" dirty="0">
              <a:latin typeface="Open Sans"/>
              <a:cs typeface="Open Sans"/>
            </a:endParaRPr>
          </a:p>
          <a:p>
            <a:pPr marL="283878" indent="-283878">
              <a:buAutoNum type="arabicParenR"/>
              <a:defRPr/>
            </a:pP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Разработан механизм оценки сложности переноса проекта </a:t>
            </a:r>
            <a:endParaRPr sz="1600" dirty="0">
              <a:latin typeface="Open Sans"/>
              <a:cs typeface="Open Sans"/>
            </a:endParaRPr>
          </a:p>
          <a:p>
            <a:pPr marL="283878" indent="-283878">
              <a:buAutoNum type="arabicParenR"/>
              <a:defRPr/>
            </a:pP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Сформирован расширяемый набор правил преобразования</a:t>
            </a:r>
            <a:endParaRPr sz="1600" dirty="0">
              <a:latin typeface="Open Sans"/>
              <a:cs typeface="Open Sans"/>
            </a:endParaRPr>
          </a:p>
          <a:p>
            <a:pPr marL="283878" indent="-283878">
              <a:buAutoNum type="arabicParenR"/>
              <a:defRPr/>
            </a:pP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Реализован </a:t>
            </a:r>
            <a:r>
              <a:rPr lang="ru-RU" sz="1600" b="0" i="0" u="none" strike="noStrike" cap="none" spc="0" dirty="0" err="1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аннотатор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, облегчающий процесс миграции</a:t>
            </a:r>
            <a:endParaRPr sz="1600" dirty="0">
              <a:latin typeface="Open Sans"/>
              <a:cs typeface="Open Sans"/>
            </a:endParaRPr>
          </a:p>
          <a:p>
            <a:pPr marL="283878" indent="-283878">
              <a:buAutoNum type="arabicParenR"/>
              <a:defRPr/>
            </a:pP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Проведена экспериментальная проверка на прототипах</a:t>
            </a:r>
            <a:endParaRPr sz="1600" dirty="0">
              <a:latin typeface="Open Sans"/>
              <a:cs typeface="Open Sans"/>
            </a:endParaRPr>
          </a:p>
          <a:p>
            <a:pPr>
              <a:defRPr/>
            </a:pPr>
            <a:r>
              <a:rPr lang="ru-RU" sz="1600" b="1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Планы дальнейших исследований:</a:t>
            </a:r>
            <a:endParaRPr sz="1600" dirty="0"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Расширение функциональности инфраструктуры для поддержки более широкого спектра моделей и прикладных задач.</a:t>
            </a:r>
            <a:endParaRPr sz="1600" b="0" i="0" u="none" strike="noStrike" cap="none" spc="0" dirty="0">
              <a:solidFill>
                <a:schemeClr val="tx1"/>
              </a:solidFill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Оптимизация процессов взаимодействия с LLM, улучшение гибкости и точности адаптации приложений.</a:t>
            </a:r>
            <a:endParaRPr sz="1600" b="0" i="0" u="none" strike="noStrike" cap="none" spc="0" dirty="0">
              <a:solidFill>
                <a:schemeClr val="tx1"/>
              </a:solidFill>
              <a:latin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Интеграция инструментов для динамической оценки и тестирования 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различных моделей, 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а также внедрение новых подходов к повышению производительности систем.</a:t>
            </a:r>
          </a:p>
          <a:p>
            <a:pPr marL="283879" indent="-283879">
              <a:buAutoNum type="arabicParenR"/>
              <a:defRPr/>
            </a:pPr>
            <a:r>
              <a:rPr lang="ru-RU" sz="1600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Поиск иных способов улучшения решения</a:t>
            </a:r>
            <a:endParaRPr lang="en-US" sz="1600" b="0" i="0" u="none" strike="noStrike" cap="none" spc="0" dirty="0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  <a:p>
            <a:pPr marL="283879" indent="-283879">
              <a:buAutoNum type="arabicParenR"/>
              <a:defRPr/>
            </a:pPr>
            <a:endParaRPr sz="1600" b="0" i="0" u="none" strike="noStrike" cap="none" spc="0" dirty="0">
              <a:solidFill>
                <a:schemeClr val="tx1"/>
              </a:solidFill>
              <a:latin typeface="Open Sans"/>
              <a:cs typeface="Open Sans"/>
            </a:endParaRPr>
          </a:p>
        </p:txBody>
      </p:sp>
      <p:grpSp>
        <p:nvGrpSpPr>
          <p:cNvPr id="1770322856" name="Группа 1770322855"/>
          <p:cNvGrpSpPr/>
          <p:nvPr/>
        </p:nvGrpSpPr>
        <p:grpSpPr bwMode="auto">
          <a:xfrm>
            <a:off x="6430600" y="80852"/>
            <a:ext cx="1476072" cy="590544"/>
            <a:chOff x="0" y="0"/>
            <a:chExt cx="1476072" cy="590544"/>
          </a:xfrm>
        </p:grpSpPr>
        <p:pic>
          <p:nvPicPr>
            <p:cNvPr id="712553947" name="Рисунок 712553946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5"/>
            </a:xfrm>
            <a:prstGeom prst="rect">
              <a:avLst/>
            </a:prstGeom>
          </p:spPr>
        </p:pic>
        <p:sp>
          <p:nvSpPr>
            <p:cNvPr id="1992759893" name="Прямоугольник 1992759892"/>
            <p:cNvSpPr/>
            <p:nvPr/>
          </p:nvSpPr>
          <p:spPr bwMode="auto">
            <a:xfrm>
              <a:off x="658818" y="66492"/>
              <a:ext cx="817254" cy="503276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 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</a:t>
              </a:r>
              <a:endParaRPr/>
            </a:p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F4DA01-FCAD-C015-82DF-C23FBEC8898D}"/>
              </a:ext>
            </a:extLst>
          </p:cNvPr>
          <p:cNvSpPr txBox="1"/>
          <p:nvPr/>
        </p:nvSpPr>
        <p:spPr bwMode="auto">
          <a:xfrm>
            <a:off x="8899899" y="4643405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" name="Google Shape;281;p1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-1" y="3414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9"/>
          <p:cNvSpPr txBox="1"/>
          <p:nvPr/>
        </p:nvSpPr>
        <p:spPr bwMode="auto">
          <a:xfrm>
            <a:off x="689384" y="1671184"/>
            <a:ext cx="6452195" cy="65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/>
            </a:pPr>
            <a:r>
              <a:rPr lang="ru" sz="3800" b="1" i="0" u="none" strike="noStrike" cap="none" dirty="0">
                <a:solidFill>
                  <a:srgbClr val="0064BE"/>
                </a:solidFill>
                <a:latin typeface="Montserrat ExtraBold" panose="00000900000000000000" pitchFamily="2" charset="-52"/>
                <a:ea typeface="Montserrat Black"/>
                <a:cs typeface="Montserrat Black"/>
              </a:rPr>
              <a:t>Спасибо за внимание!</a:t>
            </a:r>
            <a:endParaRPr sz="3800" b="0" i="0" u="none" strike="noStrike" cap="none" dirty="0">
              <a:solidFill>
                <a:srgbClr val="0064BE"/>
              </a:solidFill>
              <a:latin typeface="Montserrat ExtraBold" panose="00000900000000000000" pitchFamily="2" charset="-52"/>
              <a:ea typeface="Montserrat Black"/>
              <a:cs typeface="Montserrat Black"/>
            </a:endParaRPr>
          </a:p>
        </p:txBody>
      </p:sp>
      <p:pic>
        <p:nvPicPr>
          <p:cNvPr id="287" name="Google Shape;287;p19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79956" y="322575"/>
            <a:ext cx="1996899" cy="7155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970" name="Google Shape;57;p2"/>
          <p:cNvGrpSpPr/>
          <p:nvPr/>
        </p:nvGrpSpPr>
        <p:grpSpPr bwMode="auto">
          <a:xfrm>
            <a:off x="-5" y="4882237"/>
            <a:ext cx="9144005" cy="301730"/>
            <a:chOff x="0" y="0"/>
            <a:chExt cx="9144005" cy="301730"/>
          </a:xfrm>
        </p:grpSpPr>
        <p:sp>
          <p:nvSpPr>
            <p:cNvPr id="1220858482" name="Google Shape;58;p2"/>
            <p:cNvSpPr/>
            <p:nvPr/>
          </p:nvSpPr>
          <p:spPr bwMode="auto">
            <a:xfrm rot="5399976" flipH="1">
              <a:off x="4421142" y="-4421130"/>
              <a:ext cx="301725" cy="9144000"/>
            </a:xfrm>
            <a:prstGeom prst="rect">
              <a:avLst/>
            </a:prstGeom>
            <a:gradFill>
              <a:gsLst>
                <a:gs pos="0">
                  <a:srgbClr val="004A87"/>
                </a:gs>
                <a:gs pos="71000">
                  <a:srgbClr val="2687D6"/>
                </a:gs>
                <a:gs pos="100000">
                  <a:srgbClr val="00ADEE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4" tIns="68574" rIns="68574" bIns="68574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44758754" name="Google Shape;59;p2"/>
            <p:cNvSpPr txBox="1"/>
            <p:nvPr/>
          </p:nvSpPr>
          <p:spPr bwMode="auto">
            <a:xfrm rot="10799989" flipH="1">
              <a:off x="0" y="0"/>
              <a:ext cx="9144000" cy="301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4" tIns="34274" rIns="68574" bIns="34274" anchor="ctr" anchorCtr="0">
              <a:noAutofit/>
            </a:bodyPr>
            <a:lstStyle/>
            <a:p>
              <a:pPr marL="0" marR="0" lv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477540223" name="Google Shape;154;g315eba490ab_6_77"/>
          <p:cNvSpPr txBox="1"/>
          <p:nvPr/>
        </p:nvSpPr>
        <p:spPr bwMode="auto">
          <a:xfrm>
            <a:off x="-325197" y="4882237"/>
            <a:ext cx="9794742" cy="49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3" tIns="34273" rIns="68573" bIns="34273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ru" sz="1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</a:rPr>
              <a:t>#сделанывАрктике #сделанывАрктике #сделанывАрктике #сделанывАрктике #сделанывАрктике #сделанывАрктике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</a:endParaRPr>
          </a:p>
        </p:txBody>
      </p:sp>
      <p:grpSp>
        <p:nvGrpSpPr>
          <p:cNvPr id="674641815" name="Группа 674641814"/>
          <p:cNvGrpSpPr/>
          <p:nvPr/>
        </p:nvGrpSpPr>
        <p:grpSpPr bwMode="auto">
          <a:xfrm>
            <a:off x="2231872" y="348854"/>
            <a:ext cx="1615254" cy="590547"/>
            <a:chOff x="0" y="0"/>
            <a:chExt cx="1615254" cy="590547"/>
          </a:xfrm>
        </p:grpSpPr>
        <p:pic>
          <p:nvPicPr>
            <p:cNvPr id="1243931442" name="Рисунок 1243931441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0" y="0"/>
              <a:ext cx="742950" cy="590547"/>
            </a:xfrm>
            <a:prstGeom prst="rect">
              <a:avLst/>
            </a:prstGeom>
          </p:spPr>
        </p:pic>
        <p:sp>
          <p:nvSpPr>
            <p:cNvPr id="556323460" name="Прямоугольник 556323459"/>
            <p:cNvSpPr/>
            <p:nvPr/>
          </p:nvSpPr>
          <p:spPr bwMode="auto">
            <a:xfrm>
              <a:off x="658819" y="73300"/>
              <a:ext cx="956435" cy="50327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ИИММ</a:t>
              </a:r>
              <a:b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</a:b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ФИЦ КНЦ </a:t>
              </a:r>
              <a:b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</a:br>
              <a:r>
                <a:rPr sz="900" b="0" i="0" u="none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РАН</a:t>
              </a:r>
              <a:endParaRPr sz="120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947</Words>
  <Application>Microsoft Office PowerPoint</Application>
  <DocSecurity>0</DocSecurity>
  <PresentationFormat>Экран (16:9)</PresentationFormat>
  <Paragraphs>191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Inter</vt:lpstr>
      <vt:lpstr>Aptos</vt:lpstr>
      <vt:lpstr>Open Sans</vt:lpstr>
      <vt:lpstr>Montserrat ExtraBold</vt:lpstr>
      <vt:lpstr>Arial</vt:lpstr>
      <vt:lpstr>Calibri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1</dc:creator>
  <cp:keywords/>
  <dc:description/>
  <cp:lastModifiedBy>Даниил Фигуркин</cp:lastModifiedBy>
  <cp:revision>85</cp:revision>
  <dcterms:modified xsi:type="dcterms:W3CDTF">2026-01-22T06:33:31Z</dcterms:modified>
  <cp:category/>
  <dc:identifier/>
  <cp:contentStatus/>
  <dc:language/>
  <cp:version/>
</cp:coreProperties>
</file>