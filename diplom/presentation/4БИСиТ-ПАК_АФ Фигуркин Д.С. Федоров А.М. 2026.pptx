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73" r:id="rId2"/>
    <p:sldId id="275" r:id="rId3"/>
    <p:sldId id="286" r:id="rId4"/>
    <p:sldId id="285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</p:sldIdLst>
  <p:sldSz cx="12192000" cy="6858000"/>
  <p:notesSz cx="6858000" cy="9144000"/>
  <p:embeddedFontLst>
    <p:embeddedFont>
      <p:font typeface="Montserrat" panose="00000500000000000000" pitchFamily="2" charset="-52"/>
      <p:regular r:id="rId15"/>
      <p:bold r:id="rId16"/>
      <p:italic r:id="rId17"/>
      <p:boldItalic r:id="rId18"/>
    </p:embeddedFont>
    <p:embeddedFont>
      <p:font typeface="Montserrat Black" panose="00000A00000000000000" pitchFamily="2" charset="-52"/>
      <p:bold r:id="rId19"/>
      <p:boldItalic r:id="rId20"/>
    </p:embeddedFont>
    <p:embeddedFont>
      <p:font typeface="Montserrat ExtraBold" panose="00000900000000000000" pitchFamily="2" charset="-52"/>
      <p:bold r:id="rId21"/>
      <p:boldItalic r:id="rId22"/>
    </p:embeddedFont>
    <p:embeddedFont>
      <p:font typeface="Montserrat Medium" panose="00000600000000000000" pitchFamily="2" charset="-52"/>
      <p:regular r:id="rId23"/>
      <p: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orient="horz" pos="731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1049" userDrawn="1">
          <p15:clr>
            <a:srgbClr val="F26B43"/>
          </p15:clr>
        </p15:guide>
        <p15:guide id="5" orient="horz" pos="3838" userDrawn="1">
          <p15:clr>
            <a:srgbClr val="F26B43"/>
          </p15:clr>
        </p15:guide>
        <p15:guide id="6" pos="7287" userDrawn="1">
          <p15:clr>
            <a:srgbClr val="F26B43"/>
          </p15:clr>
        </p15:guide>
        <p15:guide id="7" orient="horz" pos="3543" userDrawn="1">
          <p15:clr>
            <a:srgbClr val="F26B43"/>
          </p15:clr>
        </p15:guide>
        <p15:guide id="8" pos="4566" userDrawn="1">
          <p15:clr>
            <a:srgbClr val="F26B43"/>
          </p15:clr>
        </p15:guide>
        <p15:guide id="10" pos="4294" userDrawn="1">
          <p15:clr>
            <a:srgbClr val="F26B43"/>
          </p15:clr>
        </p15:guide>
        <p15:guide id="11" orient="horz" pos="2359" userDrawn="1">
          <p15:clr>
            <a:srgbClr val="F26B43"/>
          </p15:clr>
        </p15:guide>
        <p15:guide id="12" pos="4021" userDrawn="1">
          <p15:clr>
            <a:srgbClr val="A4A3A4"/>
          </p15:clr>
        </p15:guide>
        <p15:guide id="13" orient="horz" pos="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9423A"/>
    <a:srgbClr val="A000FA"/>
    <a:srgbClr val="5F09C6"/>
    <a:srgbClr val="00008B"/>
    <a:srgbClr val="0064BE"/>
    <a:srgbClr val="008CFA"/>
    <a:srgbClr val="70D7FC"/>
    <a:srgbClr val="00DCFF"/>
    <a:srgbClr val="00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>
        <p:guide orient="horz" pos="346"/>
        <p:guide orient="horz" pos="731"/>
        <p:guide pos="506"/>
        <p:guide orient="horz" pos="1049"/>
        <p:guide orient="horz" pos="3838"/>
        <p:guide pos="7287"/>
        <p:guide orient="horz" pos="3543"/>
        <p:guide pos="4566"/>
        <p:guide pos="4294"/>
        <p:guide orient="horz" pos="2359"/>
        <p:guide pos="4021"/>
        <p:guide orient="horz" pos="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err="1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Оценка</a:t>
            </a:r>
            <a:r>
              <a:rPr lang="ru-RU" sz="1200" dirty="0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времени подготовки</a:t>
            </a:r>
            <a:r>
              <a:rPr lang="en-US" sz="1200" dirty="0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для</a:t>
            </a:r>
            <a:r>
              <a:rPr lang="en-US" sz="1200" dirty="0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проекта </a:t>
            </a:r>
            <a:r>
              <a:rPr lang="en-US" sz="1200" dirty="0" err="1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объёмом</a:t>
            </a:r>
            <a:r>
              <a:rPr lang="en-US" sz="1200" dirty="0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98 КБ </a:t>
            </a:r>
            <a:r>
              <a:rPr lang="en-US" sz="1200" dirty="0" err="1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кода</a:t>
            </a:r>
            <a:r>
              <a:rPr lang="ru-RU" sz="1200" dirty="0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с 11% </a:t>
            </a:r>
            <a:r>
              <a:rPr lang="ru-RU" sz="1200">
                <a:solidFill>
                  <a:srgbClr val="666666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изначальных комментариев </a:t>
            </a:r>
            <a:endParaRPr lang="en-US" sz="1200" dirty="0">
              <a:latin typeface="Montserrat" panose="00000500000000000000" pitchFamily="2" charset="-52"/>
            </a:endParaRPr>
          </a:p>
        </c:rich>
      </c:tx>
      <c:layout>
        <c:manualLayout>
          <c:xMode val="edge"/>
          <c:yMode val="edge"/>
          <c:x val="0.10040149962757511"/>
          <c:y val="0.861546259884985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5591038493609878E-2"/>
          <c:y val="7.82356270094344E-2"/>
          <c:w val="0.86904471994406529"/>
          <c:h val="0.655632264957440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без AI</c:v>
                </c:pt>
                <c:pt idx="1">
                  <c:v>только unit</c:v>
                </c:pt>
                <c:pt idx="2">
                  <c:v>unit и class</c:v>
                </c:pt>
                <c:pt idx="3">
                  <c:v>полное обогащение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1.5</c:v>
                </c:pt>
                <c:pt idx="1">
                  <c:v>3</c:v>
                </c:pt>
                <c:pt idx="2">
                  <c:v>20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1E-48EB-895A-93487946F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9415680"/>
        <c:axId val="1229416160"/>
      </c:barChart>
      <c:catAx>
        <c:axId val="122941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9416160"/>
        <c:crosses val="autoZero"/>
        <c:auto val="1"/>
        <c:lblAlgn val="ctr"/>
        <c:lblOffset val="100"/>
        <c:noMultiLvlLbl val="0"/>
      </c:catAx>
      <c:valAx>
        <c:axId val="1229416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9415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DDD06-15A8-4CBC-8437-7790ED3239B0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8EC50-7A4E-4A90-B77A-12D168F0CE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30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E9E9-CB29-4D2A-883A-F960735B242A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067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56AF-0BEE-4058-9BC0-F8F90FED4D53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9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620F-AAF3-4135-9908-5C2EAACC245F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49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2B9E-35C6-4193-8041-F5C68CE9AC51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19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A08C2-721E-401F-B628-196EB929AABD}" type="datetime1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33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41999-6CA5-4621-8507-FA01CE520648}" type="datetime1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07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B9232-5B8C-4BF6-A8E2-D0CE1B309179}" type="datetime1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71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C8301-0972-46D1-8CF7-30D62928972A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531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350C1-8F59-4E2B-8BC5-5CC443493F0E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73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8F9E6-3626-4E82-AAD3-3A4259B7CDD6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33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6AF47-471E-42F2-B9D9-E52845519F9F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3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8542B-9AF9-4A36-B465-E9B6378CD762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AC578-A75C-41F3-9829-00AE8EC2A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70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706687"/>
            <a:ext cx="12192000" cy="1424789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4000" b="1" dirty="0">
                <a:solidFill>
                  <a:srgbClr val="0064BE"/>
                </a:solidFill>
                <a:latin typeface="Montserrat Black" panose="00000A00000000000000" pitchFamily="2" charset="-52"/>
                <a:ea typeface="Inter" panose="02000503000000020004" pitchFamily="2" charset="0"/>
                <a:cs typeface="+mn-cs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38200" y="4151313"/>
            <a:ext cx="10296970" cy="1655762"/>
          </a:xfrm>
        </p:spPr>
        <p:txBody>
          <a:bodyPr>
            <a:normAutofit fontScale="77500" lnSpcReduction="2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Выполнил обучающийся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Фигуркин Даниил Сергеевич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Направление подготовки 09.03.02 Информационные системы и технологии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Направленность (профиль) Программно-аппаратные комплексы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Очная форма обучения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Группа 4БИСиТ-ПАК_АФ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Научный руководитель: 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0064BE"/>
                </a:solidFill>
                <a:latin typeface="Montserrat" pitchFamily="2" charset="-52"/>
                <a:ea typeface="Inter" panose="02000503000000020004" pitchFamily="2" charset="0"/>
              </a:rPr>
              <a:t>Федоров Андрей Михайлович – канд. техн. наук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69" y="341175"/>
            <a:ext cx="2439826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5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2</a:t>
            </a:fld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809048" y="576100"/>
            <a:ext cx="7721048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АКТУАЛЬНОСТЬ, ПРОБЛЕМА И ЦЕЛЬ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CF4602F-63EC-FEF0-6997-401EE2E1C678}"/>
              </a:ext>
            </a:extLst>
          </p:cNvPr>
          <p:cNvSpPr/>
          <p:nvPr/>
        </p:nvSpPr>
        <p:spPr>
          <a:xfrm>
            <a:off x="728544" y="1524001"/>
            <a:ext cx="3132269" cy="251995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Актуальность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Существует множество старых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Pascal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/Delphi-проектов с большим объёмом кода, нелинейной структурой и устаревшей документацией.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E5A4493-BD29-8C54-2102-E3FA3E982C38}"/>
              </a:ext>
            </a:extLst>
          </p:cNvPr>
          <p:cNvSpPr/>
          <p:nvPr/>
        </p:nvSpPr>
        <p:spPr>
          <a:xfrm>
            <a:off x="4669572" y="1524001"/>
            <a:ext cx="3132269" cy="251995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Сопровождение этих проектов осложнено. Разработчик часто вручную выявляет логику и структуру.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DD13B66-0996-BB50-524A-BF0809986A62}"/>
              </a:ext>
            </a:extLst>
          </p:cNvPr>
          <p:cNvSpPr/>
          <p:nvPr/>
        </p:nvSpPr>
        <p:spPr>
          <a:xfrm>
            <a:off x="8610600" y="1524001"/>
            <a:ext cx="3132269" cy="251995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Цель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создать систему, которая преобразует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Pascal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/Delphi-кодовую базу в удобное для поиска и навигации представление.</a:t>
            </a: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C0B2A7D1-170C-D58F-0552-199AF52ED02B}"/>
              </a:ext>
            </a:extLst>
          </p:cNvPr>
          <p:cNvSpPr/>
          <p:nvPr/>
        </p:nvSpPr>
        <p:spPr>
          <a:xfrm>
            <a:off x="975360" y="4832758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 не заменяет IDE, а добавляет промежуточный навигационно-поисковый слой между кодом и разработчиком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6F13F83-20D6-A8DA-E321-608C47E872BF}"/>
              </a:ext>
            </a:extLst>
          </p:cNvPr>
          <p:cNvGrpSpPr/>
          <p:nvPr/>
        </p:nvGrpSpPr>
        <p:grpSpPr bwMode="auto">
          <a:xfrm>
            <a:off x="7300672" y="397176"/>
            <a:ext cx="2912918" cy="590548"/>
            <a:chOff x="0" y="0"/>
            <a:chExt cx="3640283" cy="59054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F6835689-A93B-B4C4-58A8-E2E685A7B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7E621452-289D-33FD-0BE6-27AE039E754C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720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F373-B485-80C6-4D76-C1336D80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E83B73-CB0B-2BFB-B50B-34C20E7C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3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A6F3E0D-A24F-BC5B-0B32-90A2830E1C91}"/>
              </a:ext>
            </a:extLst>
          </p:cNvPr>
          <p:cNvSpPr txBox="1">
            <a:spLocks/>
          </p:cNvSpPr>
          <p:nvPr/>
        </p:nvSpPr>
        <p:spPr>
          <a:xfrm>
            <a:off x="809048" y="576100"/>
            <a:ext cx="7721048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ОБЪЕКТ, ПРЕДМЕТ И ЗАДАЧИ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3D0B6D7-FA66-5F80-2F0C-5A4634ED290A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A357283-8A8A-EF5A-6592-C847D4910C86}"/>
              </a:ext>
            </a:extLst>
          </p:cNvPr>
          <p:cNvSpPr/>
          <p:nvPr/>
        </p:nvSpPr>
        <p:spPr>
          <a:xfrm>
            <a:off x="809047" y="1166719"/>
            <a:ext cx="5088834" cy="15525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Объект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массивы структурированных данных, представленные кодовыми базами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Pascal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/Delphi-проектов.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D6FC0F4-238D-4F7B-30FF-8248BB534993}"/>
              </a:ext>
            </a:extLst>
          </p:cNvPr>
          <p:cNvSpPr/>
          <p:nvPr/>
        </p:nvSpPr>
        <p:spPr>
          <a:xfrm>
            <a:off x="6153077" y="1166719"/>
            <a:ext cx="5200721" cy="155251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Предмет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подходы к извлечению, представлению и поиску информации в кодовых базах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Pascal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/Delphi-проектов.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A6E099-14CD-23FB-32D4-8D881EA9FD80}"/>
              </a:ext>
            </a:extLst>
          </p:cNvPr>
          <p:cNvSpPr/>
          <p:nvPr/>
        </p:nvSpPr>
        <p:spPr>
          <a:xfrm>
            <a:off x="809045" y="3015378"/>
            <a:ext cx="10544753" cy="224676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Задачи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рассмотреть код как структурированные данные;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сравнить подходы к поиску в программном коде;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определить требования к представлению для человека, алгоритма и LLM;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выбрать технологии извлечения,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-представления, RAG-поиска и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агентной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интеграции;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разработать архитектуру и проверить работу системы.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774E15D-B4FB-D6DF-F6B1-025D8F3A804B}"/>
              </a:ext>
            </a:extLst>
          </p:cNvPr>
          <p:cNvGrpSpPr/>
          <p:nvPr/>
        </p:nvGrpSpPr>
        <p:grpSpPr bwMode="auto">
          <a:xfrm>
            <a:off x="7219373" y="394604"/>
            <a:ext cx="2912918" cy="590548"/>
            <a:chOff x="0" y="0"/>
            <a:chExt cx="3640283" cy="590548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5F93BF0-E4E4-B516-9C3D-E11F278B8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996E010-FFAB-1E98-DC32-E61B691EBE0D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E6D4EA-4E2D-2D41-0829-A5B9EE1B00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1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522B-BEFE-D56D-D443-9F1CDD24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76F14D-8E37-ED95-E4D1-129DE3A9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4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8D8A14A-D9F7-E7BC-3B70-58E922CDC6FF}"/>
              </a:ext>
            </a:extLst>
          </p:cNvPr>
          <p:cNvSpPr txBox="1">
            <a:spLocks/>
          </p:cNvSpPr>
          <p:nvPr/>
        </p:nvSpPr>
        <p:spPr>
          <a:xfrm>
            <a:off x="809048" y="576100"/>
            <a:ext cx="819779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ТЕОРИЯ И ТРЕБОВАНИЯ К СИСТЕМЕ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B7E1BBE-A886-7797-B3B7-A02C946FECD1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</a:t>
            </a: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информационной</a:t>
            </a: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9A6F9B3-21BF-4D9C-B869-8BA6C65EE15E}"/>
              </a:ext>
            </a:extLst>
          </p:cNvPr>
          <p:cNvSpPr/>
          <p:nvPr/>
        </p:nvSpPr>
        <p:spPr>
          <a:xfrm>
            <a:off x="734172" y="1187434"/>
            <a:ext cx="2184519" cy="346920"/>
          </a:xfrm>
          <a:prstGeom prst="roundRect">
            <a:avLst>
              <a:gd name="adj" fmla="val 11429"/>
            </a:avLst>
          </a:prstGeom>
          <a:solidFill>
            <a:srgbClr val="14898F"/>
          </a:solidFill>
          <a:ln>
            <a:solidFill>
              <a:srgbClr val="14898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Код как структура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DF7FD7-B181-A7FC-2A14-D5AFBC337096}"/>
              </a:ext>
            </a:extLst>
          </p:cNvPr>
          <p:cNvSpPr/>
          <p:nvPr/>
        </p:nvSpPr>
        <p:spPr>
          <a:xfrm>
            <a:off x="3091686" y="1196619"/>
            <a:ext cx="3129628" cy="398809"/>
          </a:xfrm>
          <a:prstGeom prst="roundRect">
            <a:avLst>
              <a:gd name="adj" fmla="val 11429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Исследовательский поиск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E94F353-03B3-4CBE-E7BE-5776D5427216}"/>
              </a:ext>
            </a:extLst>
          </p:cNvPr>
          <p:cNvSpPr/>
          <p:nvPr/>
        </p:nvSpPr>
        <p:spPr>
          <a:xfrm>
            <a:off x="8803363" y="1194873"/>
            <a:ext cx="2547988" cy="387403"/>
          </a:xfrm>
          <a:prstGeom prst="roundRect">
            <a:avLst>
              <a:gd name="adj" fmla="val 11429"/>
            </a:avLst>
          </a:prstGeom>
          <a:solidFill>
            <a:srgbClr val="F9423A"/>
          </a:solidFill>
          <a:ln>
            <a:solidFill>
              <a:srgbClr val="F942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LLM + RAG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EA1D7F-A9CF-99F3-34E2-C140FD2B2F0B}"/>
              </a:ext>
            </a:extLst>
          </p:cNvPr>
          <p:cNvSpPr/>
          <p:nvPr/>
        </p:nvSpPr>
        <p:spPr>
          <a:xfrm>
            <a:off x="734172" y="1534357"/>
            <a:ext cx="2184519" cy="1814372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489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анализа важны не только строки, но и программные сущности.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2A76A00-F6EE-3FBD-AFE3-93627AF497DA}"/>
              </a:ext>
            </a:extLst>
          </p:cNvPr>
          <p:cNvSpPr/>
          <p:nvPr/>
        </p:nvSpPr>
        <p:spPr>
          <a:xfrm>
            <a:off x="3091685" y="1543540"/>
            <a:ext cx="3129503" cy="1814371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64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разработчик может не знать точное имя объекта, а знать лишь функционал, который ему нужно найти.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886348A-D16D-A221-8F3D-BD87583A2D72}"/>
              </a:ext>
            </a:extLst>
          </p:cNvPr>
          <p:cNvSpPr/>
          <p:nvPr/>
        </p:nvSpPr>
        <p:spPr>
          <a:xfrm>
            <a:off x="8805810" y="1541793"/>
            <a:ext cx="2547989" cy="1762481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942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Большая языковая модель не содержит данных о кодовой базе, но может оперативно получать нужные для ответа сведения из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RAG</a:t>
            </a: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84F6005-BACE-C383-EC1A-179DE2578327}"/>
              </a:ext>
            </a:extLst>
          </p:cNvPr>
          <p:cNvSpPr/>
          <p:nvPr/>
        </p:nvSpPr>
        <p:spPr>
          <a:xfrm>
            <a:off x="734172" y="4201934"/>
            <a:ext cx="5087508" cy="15525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Pascal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/Delphi-кодовая база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семантический поиск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интеграция с AI-агентом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доступ к исходному коду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разные представления для акторов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B2695B8-4D6A-FDCE-4598-403ED1C5EAC5}"/>
              </a:ext>
            </a:extLst>
          </p:cNvPr>
          <p:cNvSpPr/>
          <p:nvPr/>
        </p:nvSpPr>
        <p:spPr>
          <a:xfrm>
            <a:off x="6176177" y="4201934"/>
            <a:ext cx="5175173" cy="15525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локальная работа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логирование процессов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отладочные команды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проверяемость источников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легко-воспроизводимая архитектура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BE1E155-B7B8-0B18-DBDE-5E1ACDF224DC}"/>
              </a:ext>
            </a:extLst>
          </p:cNvPr>
          <p:cNvSpPr/>
          <p:nvPr/>
        </p:nvSpPr>
        <p:spPr>
          <a:xfrm>
            <a:off x="734172" y="3817794"/>
            <a:ext cx="5087508" cy="394615"/>
          </a:xfrm>
          <a:prstGeom prst="roundRect">
            <a:avLst>
              <a:gd name="adj" fmla="val 11429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Обязательные</a:t>
            </a:r>
            <a:endParaRPr lang="en-US" dirty="0">
              <a:latin typeface="Montserrat" panose="00000500000000000000" pitchFamily="2" charset="-52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6EA1D2F-7CF8-F977-7AC8-4E4E10F99EFD}"/>
              </a:ext>
            </a:extLst>
          </p:cNvPr>
          <p:cNvSpPr/>
          <p:nvPr/>
        </p:nvSpPr>
        <p:spPr>
          <a:xfrm>
            <a:off x="6176177" y="3817794"/>
            <a:ext cx="5175173" cy="394615"/>
          </a:xfrm>
          <a:prstGeom prst="roundRect">
            <a:avLst>
              <a:gd name="adj" fmla="val 11429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FFFF"/>
                </a:solidFill>
                <a:latin typeface="Montserrat" panose="00000500000000000000" pitchFamily="2" charset="-52"/>
              </a:rPr>
              <a:t>Дополнительные</a:t>
            </a:r>
            <a:endParaRPr lang="en-US" dirty="0">
              <a:latin typeface="Montserrat" panose="00000500000000000000" pitchFamily="2" charset="-52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A18AEC5-1B22-3C06-3DEA-373A6F7C3EFA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F004EF92-59CD-6EA1-C592-EFD7D1E20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35E3424-8E38-A355-64D0-82C0C67E9F4D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F19548-2F1C-D658-5873-F64F0082FE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177B689B-3AD8-F642-546B-A45F0E7D5D26}"/>
              </a:ext>
            </a:extLst>
          </p:cNvPr>
          <p:cNvSpPr/>
          <p:nvPr/>
        </p:nvSpPr>
        <p:spPr>
          <a:xfrm>
            <a:off x="6414078" y="1194873"/>
            <a:ext cx="2196521" cy="414819"/>
          </a:xfrm>
          <a:prstGeom prst="roundRect">
            <a:avLst>
              <a:gd name="adj" fmla="val 11429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AI-</a:t>
            </a:r>
            <a:r>
              <a:rPr lang="ru-RU" sz="1600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обогащение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57450F1-7777-DCC0-E2B1-2BFFA2A7E57D}"/>
              </a:ext>
            </a:extLst>
          </p:cNvPr>
          <p:cNvSpPr/>
          <p:nvPr/>
        </p:nvSpPr>
        <p:spPr>
          <a:xfrm>
            <a:off x="6414078" y="1541794"/>
            <a:ext cx="2196521" cy="1814371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64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Процесс обогащения документации комментариями</a:t>
            </a:r>
          </a:p>
        </p:txBody>
      </p:sp>
    </p:spTree>
    <p:extLst>
      <p:ext uri="{BB962C8B-B14F-4D97-AF65-F5344CB8AC3E}">
        <p14:creationId xmlns:p14="http://schemas.microsoft.com/office/powerpoint/2010/main" val="104732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DCE9-D629-6D3B-D531-C8064FF6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39E16D0-D3DF-C57E-CCDB-9A6C3FB7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5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8A6365D-C3FF-3525-BCC8-5A5F62183237}"/>
              </a:ext>
            </a:extLst>
          </p:cNvPr>
          <p:cNvSpPr txBox="1">
            <a:spLocks/>
          </p:cNvSpPr>
          <p:nvPr/>
        </p:nvSpPr>
        <p:spPr>
          <a:xfrm>
            <a:off x="809048" y="576100"/>
            <a:ext cx="7721048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АРХИТЕКТУРА РЕШЕНИЯ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41719057-EC64-6973-CD78-A2D5E89C90E6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</a:t>
            </a: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информационной</a:t>
            </a: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7945564-FA0C-38F2-E320-05296D2B70FC}"/>
              </a:ext>
            </a:extLst>
          </p:cNvPr>
          <p:cNvSpPr/>
          <p:nvPr/>
        </p:nvSpPr>
        <p:spPr>
          <a:xfrm>
            <a:off x="868680" y="3931920"/>
            <a:ext cx="48006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Входные данные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Кодовая база </a:t>
            </a:r>
            <a:r>
              <a:rPr lang="en-US" sz="1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Pascal/Delphi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A7A9236-CE86-9E24-FDAC-66E0EC46D898}"/>
              </a:ext>
            </a:extLst>
          </p:cNvPr>
          <p:cNvSpPr/>
          <p:nvPr/>
        </p:nvSpPr>
        <p:spPr>
          <a:xfrm>
            <a:off x="6537960" y="3931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064BE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Выходные данные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Obsidian</a:t>
            </a:r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-совместимая 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</a:t>
            </a:r>
            <a:endParaRPr lang="ru-RU" dirty="0">
              <a:solidFill>
                <a:srgbClr val="22222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OpenCode-агент</a:t>
            </a:r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 дополнительными 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MCP </a:t>
            </a:r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серверами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63439BB-E112-7413-40FD-3E2F752F4CAE}"/>
              </a:ext>
            </a:extLst>
          </p:cNvPr>
          <p:cNvSpPr/>
          <p:nvPr/>
        </p:nvSpPr>
        <p:spPr>
          <a:xfrm>
            <a:off x="361059" y="1877697"/>
            <a:ext cx="1929015" cy="83727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Pascal/Delphi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</a:endParaRPr>
          </a:p>
          <a:p>
            <a:pPr marL="0" indent="0" algn="ctr">
              <a:buNone/>
            </a:pPr>
            <a:r>
              <a:rPr lang="en-US" sz="1800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кодовая</a:t>
            </a: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база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320ABC6-F2E0-1B92-F5C5-DCA02BDD4A09}"/>
              </a:ext>
            </a:extLst>
          </p:cNvPr>
          <p:cNvSpPr/>
          <p:nvPr/>
        </p:nvSpPr>
        <p:spPr>
          <a:xfrm>
            <a:off x="2694375" y="1877697"/>
            <a:ext cx="1929015" cy="83727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PasDoc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  <a:p>
            <a:pPr marL="0" indent="0" algn="ctr">
              <a:buNone/>
            </a:pPr>
            <a:r>
              <a:rPr lang="en-US" sz="1800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SimpleXML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82746AC-891B-5C2F-44E1-7FA60E2AEC06}"/>
              </a:ext>
            </a:extLst>
          </p:cNvPr>
          <p:cNvSpPr/>
          <p:nvPr/>
        </p:nvSpPr>
        <p:spPr>
          <a:xfrm>
            <a:off x="4830995" y="1877697"/>
            <a:ext cx="2283212" cy="83727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Wiki</a:t>
            </a:r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-документация и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Obsidian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82AF97C-4EB5-589B-4850-8E223081ECB9}"/>
              </a:ext>
            </a:extLst>
          </p:cNvPr>
          <p:cNvSpPr/>
          <p:nvPr/>
        </p:nvSpPr>
        <p:spPr>
          <a:xfrm>
            <a:off x="7361007" y="1853269"/>
            <a:ext cx="1929015" cy="83727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markdown-rag-</a:t>
            </a:r>
            <a:r>
              <a:rPr lang="en-US" sz="1800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mcp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1A733E7-96F4-0219-061A-10F002E9ECF1}"/>
              </a:ext>
            </a:extLst>
          </p:cNvPr>
          <p:cNvSpPr/>
          <p:nvPr/>
        </p:nvSpPr>
        <p:spPr>
          <a:xfrm>
            <a:off x="9655126" y="1853269"/>
            <a:ext cx="2175815" cy="83727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OpenCode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+ </a:t>
            </a:r>
            <a:r>
              <a:rPr lang="en-US" dirty="0" err="1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pasls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+ MCP-wrapper</a:t>
            </a:r>
            <a:r>
              <a:rPr lang="ru-RU" dirty="0">
                <a:solidFill>
                  <a:schemeClr val="tx1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endParaRPr lang="en-US" sz="1800" dirty="0">
              <a:solidFill>
                <a:schemeClr val="tx1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96F3F5D2-BED8-A613-089C-625BABBCDE94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2290074" y="2296335"/>
            <a:ext cx="404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DA374B2-1B35-39CD-BDA6-623023485D10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623390" y="2296335"/>
            <a:ext cx="207605" cy="1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BA807C22-6890-F6FD-B1D7-1B9754B257F2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7114207" y="2296335"/>
            <a:ext cx="24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2BA85CDE-B184-91AA-57F8-48C1A48E4F48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9290022" y="2271907"/>
            <a:ext cx="365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803CF69-095D-0843-0AC4-BBFBBD0CB71D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38817C9-F5F1-D56A-4C6C-668334AD2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6F28C5E-AD52-9DA3-3B0E-DEB8DD1B8FCC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37EA3C-3799-2EA3-FFB7-054BAF3903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5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E9F2-0B4A-C981-1ACE-FA29B750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0F7775-AE23-3A74-791B-73E81B17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6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E9C75CD-FEB2-63E5-92DC-32FB0D657386}"/>
              </a:ext>
            </a:extLst>
          </p:cNvPr>
          <p:cNvSpPr txBox="1">
            <a:spLocks/>
          </p:cNvSpPr>
          <p:nvPr/>
        </p:nvSpPr>
        <p:spPr>
          <a:xfrm>
            <a:off x="809048" y="576100"/>
            <a:ext cx="7721048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СТРУКТУРА ПРОЕКТА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309106-11EE-CBD8-2808-71C4C6DD207E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информационной системы для </a:t>
            </a: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исследовательского</a:t>
            </a: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 поиска в массивах структурированных данных с помощью больших языковых моделей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9A0683-69B3-D5D0-E481-317DF2206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46" y="819121"/>
            <a:ext cx="4198619" cy="527462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EA4309AD-C570-EB7A-2C7B-398F7DF1CC6C}"/>
              </a:ext>
            </a:extLst>
          </p:cNvPr>
          <p:cNvSpPr/>
          <p:nvPr/>
        </p:nvSpPr>
        <p:spPr>
          <a:xfrm>
            <a:off x="5806440" y="1444752"/>
            <a:ext cx="525780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Четыре</a:t>
            </a:r>
            <a:r>
              <a:rPr lang="en-US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основные </a:t>
            </a:r>
            <a:r>
              <a:rPr lang="en-US" b="1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области</a:t>
            </a:r>
            <a:r>
              <a:rPr lang="en-US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проекта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1) .config — локальные настройки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2) code — генератор, pipeline, wrapper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3) data — входы, wiki, кэш, логи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4) tools — внешние компоненты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030D2935-F9AC-A2FD-0DCD-7C43EB05386F}"/>
              </a:ext>
            </a:extLst>
          </p:cNvPr>
          <p:cNvSpPr/>
          <p:nvPr/>
        </p:nvSpPr>
        <p:spPr>
          <a:xfrm>
            <a:off x="5806440" y="37490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0064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Причина компоновки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компоненты </a:t>
            </a:r>
            <a:r>
              <a:rPr lang="en-US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смешиваются</a:t>
            </a:r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собственная разработка, данные выполнения и внешние инструменты отделены друг от друга.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8E836-7B75-2885-8EA9-A8599D84465F}"/>
              </a:ext>
            </a:extLst>
          </p:cNvPr>
          <p:cNvSpPr txBox="1"/>
          <p:nvPr/>
        </p:nvSpPr>
        <p:spPr>
          <a:xfrm>
            <a:off x="1621572" y="5992685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rgbClr val="22222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дерево</a:t>
            </a:r>
            <a:r>
              <a:rPr lang="en-US" sz="900" dirty="0">
                <a:solidFill>
                  <a:srgbClr val="22222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проекта </a:t>
            </a:r>
            <a:r>
              <a:rPr lang="en-US" sz="900" dirty="0" err="1">
                <a:solidFill>
                  <a:srgbClr val="22222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finalversion</a:t>
            </a:r>
            <a:endParaRPr lang="ru-RU" sz="900" dirty="0">
              <a:solidFill>
                <a:srgbClr val="222222"/>
              </a:solidFill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D537041-B7D9-352E-6E42-EB6208DFF9FF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7921F5F2-7C51-974A-B3DE-7822D8F5C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083E613-02CE-3EBB-15F8-C3C4E3CC4600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0E18B0-69B1-61B3-20A7-A897A79D1E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741C-E908-56F7-8285-6071142B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C9F70D-6C30-69C4-41DD-5F86CF45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7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9B4DD90-7DF6-F5DD-2B83-79C492D38711}"/>
              </a:ext>
            </a:extLst>
          </p:cNvPr>
          <p:cNvSpPr txBox="1">
            <a:spLocks/>
          </p:cNvSpPr>
          <p:nvPr/>
        </p:nvSpPr>
        <p:spPr>
          <a:xfrm>
            <a:off x="809048" y="576100"/>
            <a:ext cx="7721048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ГЕНЕРАЦИЯ </a:t>
            </a:r>
            <a:r>
              <a:rPr lang="en-US" sz="2400" dirty="0">
                <a:solidFill>
                  <a:srgbClr val="0064BE"/>
                </a:solidFill>
                <a:latin typeface="Montserrat ExtraBold" pitchFamily="2" charset="-52"/>
              </a:rPr>
              <a:t>WIKI</a:t>
            </a:r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-ДОКУМЕНТАЦИИ</a:t>
            </a:r>
            <a:endParaRPr lang="en-US" sz="2400" dirty="0">
              <a:solidFill>
                <a:srgbClr val="0064BE"/>
              </a:solidFill>
              <a:latin typeface="Montserrat ExtraBold" pitchFamily="2" charset="-52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0749AED1-5560-D4A0-8B44-BD6051A48853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A0786B-3A43-02D3-1788-0F587DBAC0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7848"/>
          <a:stretch/>
        </p:blipFill>
        <p:spPr bwMode="auto">
          <a:xfrm>
            <a:off x="1486527" y="848716"/>
            <a:ext cx="5247639" cy="51605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5688DC-72E6-C0C2-319D-4013E38BC2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35" t="3223" r="26201" b="81621"/>
          <a:stretch/>
        </p:blipFill>
        <p:spPr bwMode="auto">
          <a:xfrm>
            <a:off x="15126" y="2695808"/>
            <a:ext cx="1714500" cy="13861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57990E-8AAC-A28A-189C-85964279F4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9" t="81198" r="26625" b="1140"/>
          <a:stretch/>
        </p:blipFill>
        <p:spPr bwMode="auto">
          <a:xfrm>
            <a:off x="6491067" y="2695808"/>
            <a:ext cx="1737360" cy="16154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2697DC0D-C41F-287D-F835-69ABCB342821}"/>
              </a:ext>
            </a:extLst>
          </p:cNvPr>
          <p:cNvSpPr/>
          <p:nvPr/>
        </p:nvSpPr>
        <p:spPr>
          <a:xfrm>
            <a:off x="128807" y="2329053"/>
            <a:ext cx="1487138" cy="332398"/>
          </a:xfrm>
          <a:prstGeom prst="roundRect">
            <a:avLst>
              <a:gd name="adj" fmla="val 11429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начало</a:t>
            </a:r>
            <a:endParaRPr lang="en-US" sz="1100" dirty="0">
              <a:latin typeface="Montserrat" panose="00000500000000000000" pitchFamily="2" charset="-52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4C9EB27-71AB-D955-0E3F-8F8FF6F17E41}"/>
              </a:ext>
            </a:extLst>
          </p:cNvPr>
          <p:cNvSpPr/>
          <p:nvPr/>
        </p:nvSpPr>
        <p:spPr>
          <a:xfrm>
            <a:off x="6616178" y="2329053"/>
            <a:ext cx="1487138" cy="332398"/>
          </a:xfrm>
          <a:prstGeom prst="roundRect">
            <a:avLst>
              <a:gd name="adj" fmla="val 11429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FFFF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конец</a:t>
            </a:r>
            <a:endParaRPr lang="en-US" dirty="0">
              <a:latin typeface="Montserrat" panose="00000500000000000000" pitchFamily="2" charset="-52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6D798F06-C8F9-21AB-BBED-B2EBD6F06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1701637"/>
              </p:ext>
            </p:extLst>
          </p:nvPr>
        </p:nvGraphicFramePr>
        <p:xfrm>
          <a:off x="8228427" y="1745066"/>
          <a:ext cx="3948447" cy="3870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CCC8E56-40C5-5BF9-533A-44C49DDE8FB4}"/>
              </a:ext>
            </a:extLst>
          </p:cNvPr>
          <p:cNvSpPr txBox="1"/>
          <p:nvPr/>
        </p:nvSpPr>
        <p:spPr>
          <a:xfrm>
            <a:off x="2807854" y="602988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solidFill>
                  <a:srgbClr val="22222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логика работы скрипта генерации </a:t>
            </a:r>
            <a:r>
              <a:rPr lang="ru-RU" sz="900" dirty="0" err="1">
                <a:solidFill>
                  <a:srgbClr val="22222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wiki</a:t>
            </a:r>
            <a:endParaRPr lang="ru-RU" sz="9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F10ED53-0CAC-ACA4-BE28-84EE1D5ED926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471077B-EA57-C71C-6492-87D38533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A8239167-564E-030F-4DAE-A3E04BB81F5B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20EA845-635D-336A-70CF-34AC5FC399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59D42E-2D16-6727-071F-697E1EB472B9}"/>
              </a:ext>
            </a:extLst>
          </p:cNvPr>
          <p:cNvSpPr txBox="1"/>
          <p:nvPr/>
        </p:nvSpPr>
        <p:spPr>
          <a:xfrm>
            <a:off x="7998601" y="1645528"/>
            <a:ext cx="795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anose="00000500000000000000" pitchFamily="2" charset="-52"/>
              </a:rPr>
              <a:t>минуты</a:t>
            </a:r>
          </a:p>
        </p:txBody>
      </p:sp>
    </p:spTree>
    <p:extLst>
      <p:ext uri="{BB962C8B-B14F-4D97-AF65-F5344CB8AC3E}">
        <p14:creationId xmlns:p14="http://schemas.microsoft.com/office/powerpoint/2010/main" val="346383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F7D6-15A9-F7C3-8C06-321D7EF0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393CDE-26DB-B88E-CCAF-FE4F87AB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8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785CD07-B30A-E45F-2F36-E75E78E2ECA8}"/>
              </a:ext>
            </a:extLst>
          </p:cNvPr>
          <p:cNvSpPr txBox="1">
            <a:spLocks/>
          </p:cNvSpPr>
          <p:nvPr/>
        </p:nvSpPr>
        <p:spPr>
          <a:xfrm>
            <a:off x="809047" y="576100"/>
            <a:ext cx="6734753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64BE"/>
                </a:solidFill>
                <a:latin typeface="Montserrat ExtraBold" pitchFamily="2" charset="-52"/>
              </a:rPr>
              <a:t>RAG</a:t>
            </a:r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 И СЕМАНТИЧЕСКИЙ ПОИСК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D4B9341-E526-9AC1-E0D3-EC71B9EDBADF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86F90D7-08F4-4645-1D95-D320B00B8ADC}"/>
              </a:ext>
            </a:extLst>
          </p:cNvPr>
          <p:cNvSpPr/>
          <p:nvPr/>
        </p:nvSpPr>
        <p:spPr>
          <a:xfrm>
            <a:off x="777240" y="14173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EAF5FF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Источник</a:t>
            </a:r>
            <a:endParaRPr lang="en-US" sz="1600" dirty="0">
              <a:latin typeface="Montserrat" panose="00000500000000000000" pitchFamily="2" charset="-5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Wiki-</a:t>
            </a:r>
            <a:r>
              <a:rPr lang="ru-RU" sz="160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документация</a:t>
            </a:r>
            <a:r>
              <a:rPr lang="en-US" sz="160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: </a:t>
            </a:r>
            <a:r>
              <a:rPr lang="en-US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страницы unit и </a:t>
            </a:r>
            <a:r>
              <a:rPr lang="en-US" sz="16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классов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4D49659-4244-B377-8175-7543B83246CC}"/>
              </a:ext>
            </a:extLst>
          </p:cNvPr>
          <p:cNvSpPr/>
          <p:nvPr/>
        </p:nvSpPr>
        <p:spPr>
          <a:xfrm>
            <a:off x="4617720" y="14173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0064BE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преобразователь</a:t>
            </a:r>
            <a:endParaRPr lang="en-US" sz="1600" dirty="0">
              <a:latin typeface="Montserrat" panose="00000500000000000000" pitchFamily="2" charset="-5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markdown-rag-mcp делит Markdown на фрагменты, строит embedding-векторы и сохраняет их в Milvus.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10794BB-E312-08C7-8C70-1D313D681F4A}"/>
              </a:ext>
            </a:extLst>
          </p:cNvPr>
          <p:cNvSpPr/>
          <p:nvPr/>
        </p:nvSpPr>
        <p:spPr>
          <a:xfrm>
            <a:off x="8458200" y="14173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EAF5FF"/>
          </a:solidFill>
          <a:ln w="12700">
            <a:solidFill>
              <a:srgbClr val="1489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Поиск</a:t>
            </a:r>
            <a:endParaRPr lang="en-US" sz="1600" dirty="0">
              <a:latin typeface="Montserrat" panose="00000500000000000000" pitchFamily="2" charset="-52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Векторизованный </a:t>
            </a:r>
            <a:r>
              <a:rPr lang="en-US" sz="16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запрос</a:t>
            </a:r>
            <a:r>
              <a:rPr lang="en-US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пользователя сравнивается с </a:t>
            </a:r>
            <a:r>
              <a:rPr lang="en-US" sz="16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векторами</a:t>
            </a:r>
            <a:r>
              <a:rPr lang="en-US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ru-RU" sz="16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чанков</a:t>
            </a:r>
            <a:r>
              <a:rPr lang="en-US" sz="16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600" dirty="0">
              <a:latin typeface="Montserrat" panose="00000500000000000000" pitchFamily="2" charset="-52"/>
            </a:endParaRPr>
          </a:p>
        </p:txBody>
      </p:sp>
      <p:pic>
        <p:nvPicPr>
          <p:cNvPr id="17" name="Image 1" descr="/mnt/data/vkr_unzip/word/media/image6.png">
            <a:extLst>
              <a:ext uri="{FF2B5EF4-FFF2-40B4-BE49-F238E27FC236}">
                <a16:creationId xmlns:a16="http://schemas.microsoft.com/office/drawing/2014/main" id="{D5B7F802-CEFF-3544-F3C0-11A9A7F83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48" y="3023117"/>
            <a:ext cx="3429798" cy="2691883"/>
          </a:xfrm>
          <a:prstGeom prst="rect">
            <a:avLst/>
          </a:prstGeom>
        </p:spPr>
      </p:pic>
      <p:pic>
        <p:nvPicPr>
          <p:cNvPr id="18" name="Image 2" descr="/mnt/data/vkr_unzip/word/media/image4.png">
            <a:extLst>
              <a:ext uri="{FF2B5EF4-FFF2-40B4-BE49-F238E27FC236}">
                <a16:creationId xmlns:a16="http://schemas.microsoft.com/office/drawing/2014/main" id="{2AE0412B-3A12-9760-98A9-6D8D8F656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25" b="9225"/>
          <a:stretch/>
        </p:blipFill>
        <p:spPr>
          <a:xfrm>
            <a:off x="5623559" y="3023117"/>
            <a:ext cx="5868305" cy="2691883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D3B559EB-24B5-AC25-A9A1-750CED045A67}"/>
              </a:ext>
            </a:extLst>
          </p:cNvPr>
          <p:cNvSpPr/>
          <p:nvPr/>
        </p:nvSpPr>
        <p:spPr>
          <a:xfrm>
            <a:off x="868680" y="58064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фрагмент</a:t>
            </a:r>
            <a:r>
              <a:rPr lang="en-US" sz="9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страницы wiki с RAG-ключами</a:t>
            </a:r>
            <a:endParaRPr lang="en-US" sz="900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089CB99-C8CA-9CD5-01D7-1ED96725652F}"/>
              </a:ext>
            </a:extLst>
          </p:cNvPr>
          <p:cNvSpPr/>
          <p:nvPr/>
        </p:nvSpPr>
        <p:spPr>
          <a:xfrm>
            <a:off x="6233160" y="5864823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контрольный</a:t>
            </a:r>
            <a:r>
              <a:rPr lang="en-US" sz="9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поиск после индексации</a:t>
            </a:r>
            <a:endParaRPr lang="en-US" sz="900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95360BD9-FC94-7D3F-7F0C-9348A7DF5C9D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3703320" y="2125980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D290589-8CFE-892C-96AB-6F825440EDFD}"/>
              </a:ext>
            </a:extLst>
          </p:cNvPr>
          <p:cNvCxnSpPr>
            <a:cxnSpLocks/>
          </p:cNvCxnSpPr>
          <p:nvPr/>
        </p:nvCxnSpPr>
        <p:spPr>
          <a:xfrm>
            <a:off x="7543800" y="2125980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887975E-8DE2-B0DE-EB15-0FD2654BFD3E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90789D37-1641-86C5-51ED-06F5D9DE4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A3478B10-ED94-510F-F859-9D74BBF51AA6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20FE82-1153-B74B-1F20-EF33D27A37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14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9FB0-394B-E190-60FC-FE901E305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DC7EA6-A9D3-FAAD-1D68-0AC0E540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9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F4E2D79-C8BD-86CA-96A3-0476FD2583C0}"/>
              </a:ext>
            </a:extLst>
          </p:cNvPr>
          <p:cNvSpPr txBox="1">
            <a:spLocks/>
          </p:cNvSpPr>
          <p:nvPr/>
        </p:nvSpPr>
        <p:spPr>
          <a:xfrm>
            <a:off x="809047" y="576100"/>
            <a:ext cx="8307243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АГЕНТНАЯ ЧАСТЬ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A54D2AF-68BD-977D-780A-402780EF58F2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668A3763-C316-B179-6FE9-8416B3B7948E}"/>
              </a:ext>
            </a:extLst>
          </p:cNvPr>
          <p:cNvSpPr/>
          <p:nvPr/>
        </p:nvSpPr>
        <p:spPr>
          <a:xfrm>
            <a:off x="6985464" y="2297845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OpenCode</a:t>
            </a:r>
            <a:endParaRPr lang="en-US" sz="16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2C770196-FCDA-1D7A-7B19-6C2E7F4129F3}"/>
              </a:ext>
            </a:extLst>
          </p:cNvPr>
          <p:cNvSpPr/>
          <p:nvPr/>
        </p:nvSpPr>
        <p:spPr>
          <a:xfrm>
            <a:off x="6848304" y="1272024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08CFA"/>
          </a:solidFill>
          <a:ln>
            <a:solidFill>
              <a:srgbClr val="008C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MCP-wrapper</a:t>
            </a:r>
            <a:endParaRPr lang="en-US" sz="16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09BCB96A-F245-EC5B-4FB0-4438817CFB4C}"/>
              </a:ext>
            </a:extLst>
          </p:cNvPr>
          <p:cNvSpPr/>
          <p:nvPr/>
        </p:nvSpPr>
        <p:spPr>
          <a:xfrm>
            <a:off x="4838701" y="1272024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4898F"/>
          </a:solidFill>
          <a:ln>
            <a:solidFill>
              <a:srgbClr val="1489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markdown-rag-</a:t>
            </a:r>
            <a:r>
              <a:rPr lang="en-US" sz="1400" dirty="0" err="1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mcp</a:t>
            </a:r>
            <a:endParaRPr lang="en-US" sz="1400" dirty="0">
              <a:solidFill>
                <a:srgbClr val="FFFFFF"/>
              </a:solidFill>
              <a:latin typeface="Montserrat Medium" pitchFamily="34" charset="0"/>
              <a:ea typeface="Montserrat Medium" pitchFamily="34" charset="-122"/>
              <a:cs typeface="Montserrat Medium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88504F-F69D-CDF4-765D-BEA2B802D624}"/>
              </a:ext>
            </a:extLst>
          </p:cNvPr>
          <p:cNvSpPr/>
          <p:nvPr/>
        </p:nvSpPr>
        <p:spPr>
          <a:xfrm>
            <a:off x="4790904" y="2297844"/>
            <a:ext cx="1600198" cy="594360"/>
          </a:xfrm>
          <a:prstGeom prst="roundRect">
            <a:avLst>
              <a:gd name="adj" fmla="val 12308"/>
            </a:avLst>
          </a:prstGeom>
          <a:solidFill>
            <a:srgbClr val="008CFA"/>
          </a:solidFill>
          <a:ln>
            <a:solidFill>
              <a:srgbClr val="008C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Montserrat Medium" pitchFamily="34" charset="0"/>
              </a:rPr>
              <a:t>Pasls</a:t>
            </a:r>
            <a:endParaRPr lang="en-US" sz="1600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10B6915-B7C2-5BA9-4E94-A202ECEF34B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6438901" y="1569204"/>
            <a:ext cx="409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52D2CB0-46CC-A25A-FFEA-4333F8F21646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7762704" y="1866384"/>
            <a:ext cx="0" cy="431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0069642-662C-8811-1DBF-272DEAA041F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6391102" y="2595024"/>
            <a:ext cx="5943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5">
            <a:extLst>
              <a:ext uri="{FF2B5EF4-FFF2-40B4-BE49-F238E27FC236}">
                <a16:creationId xmlns:a16="http://schemas.microsoft.com/office/drawing/2014/main" id="{6B62038F-025D-BCE0-3F7B-B8F4D7C204B6}"/>
              </a:ext>
            </a:extLst>
          </p:cNvPr>
          <p:cNvSpPr/>
          <p:nvPr/>
        </p:nvSpPr>
        <p:spPr>
          <a:xfrm>
            <a:off x="771698" y="1376694"/>
            <a:ext cx="3657600" cy="1561869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Зачем wrapper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markdown-rag-mcp используется как backend. Wrapper предоставляет поиск как MCP-инструмент для OpenCode.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FA84BC3-E06A-047D-6C82-CF36F4871418}"/>
              </a:ext>
            </a:extLst>
          </p:cNvPr>
          <p:cNvSpPr/>
          <p:nvPr/>
        </p:nvSpPr>
        <p:spPr>
          <a:xfrm>
            <a:off x="771698" y="3323664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0064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Инструменты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markdown_rag_ping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markdown_rag_warmup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markdown_rag_search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markdown_rag_reload_engine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B04AD65-3F72-F7BE-7210-243CED21310B}"/>
              </a:ext>
            </a:extLst>
          </p:cNvPr>
          <p:cNvSpPr/>
          <p:nvPr/>
        </p:nvSpPr>
        <p:spPr>
          <a:xfrm>
            <a:off x="4748881" y="3323664"/>
            <a:ext cx="5394960" cy="19202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14898F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Сценарий</a:t>
            </a:r>
            <a:r>
              <a:rPr lang="en-US" b="1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работы агента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RAG даёт навигационный контекст; при вопросах о реализации результат уточняется по </a:t>
            </a:r>
            <a:r>
              <a:rPr lang="en-US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исходным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файлам</a:t>
            </a:r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 помощью </a:t>
            </a:r>
            <a:r>
              <a:rPr lang="en-US" dirty="0" err="1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pasls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или прямого чтения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377AD269-00B2-E9FE-DEF6-0C1FB1A37021}"/>
              </a:ext>
            </a:extLst>
          </p:cNvPr>
          <p:cNvSpPr/>
          <p:nvPr/>
        </p:nvSpPr>
        <p:spPr>
          <a:xfrm>
            <a:off x="9317184" y="2082114"/>
            <a:ext cx="2236584" cy="1025820"/>
          </a:xfrm>
          <a:prstGeom prst="roundRect">
            <a:avLst>
              <a:gd name="adj" fmla="val 12308"/>
            </a:avLst>
          </a:prstGeom>
          <a:solidFill>
            <a:srgbClr val="008CFA"/>
          </a:solidFill>
          <a:ln>
            <a:solidFill>
              <a:srgbClr val="008CFA"/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 pitchFamily="34" charset="0"/>
              </a:rPr>
              <a:t>Встроенные инструменты чтения и редактирования</a:t>
            </a:r>
            <a:endParaRPr lang="en-US" sz="1600" dirty="0"/>
          </a:p>
        </p:txBody>
      </p: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2CF1DD53-2970-ECFA-12EB-B1FBAE002A9C}"/>
              </a:ext>
            </a:extLst>
          </p:cNvPr>
          <p:cNvCxnSpPr>
            <a:cxnSpLocks/>
            <a:stCxn id="42" idx="1"/>
            <a:endCxn id="5" idx="3"/>
          </p:cNvCxnSpPr>
          <p:nvPr/>
        </p:nvCxnSpPr>
        <p:spPr>
          <a:xfrm flipH="1">
            <a:off x="8539944" y="2595024"/>
            <a:ext cx="7772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E7DC7EC-E9E3-A66C-9BA5-5201AC9246A3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48" name="Рисунок 47">
              <a:extLst>
                <a:ext uri="{FF2B5EF4-FFF2-40B4-BE49-F238E27FC236}">
                  <a16:creationId xmlns:a16="http://schemas.microsoft.com/office/drawing/2014/main" id="{09AD2B22-C271-3E13-7F6C-084BB9C8C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D83F1F8B-FC4C-0A4B-CA42-01086349DB86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389A19CD-54EE-5698-12D6-71306E14E1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72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8391-BF1B-86EB-3500-B8A8753B4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AE671C0-1C6D-EC58-91F1-3E81F0A3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10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817663F-0749-0B46-FA67-97AD86A8CF5E}"/>
              </a:ext>
            </a:extLst>
          </p:cNvPr>
          <p:cNvSpPr txBox="1">
            <a:spLocks/>
          </p:cNvSpPr>
          <p:nvPr/>
        </p:nvSpPr>
        <p:spPr>
          <a:xfrm>
            <a:off x="809047" y="576100"/>
            <a:ext cx="8307243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ДЕМОНСТРАЦИЯ РАБОТЫ СИСТЕМЫ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91119BF-74A4-277D-04B9-1A987A75ABEF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" panose="00000500000000000000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pic>
        <p:nvPicPr>
          <p:cNvPr id="5" name="Image 1" descr="/mnt/data/vkr_unzip/word/media/image3.png">
            <a:extLst>
              <a:ext uri="{FF2B5EF4-FFF2-40B4-BE49-F238E27FC236}">
                <a16:creationId xmlns:a16="http://schemas.microsoft.com/office/drawing/2014/main" id="{49F6E6D9-3B61-5D7D-A221-8C6BE2A33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80" b="10580"/>
          <a:stretch/>
        </p:blipFill>
        <p:spPr>
          <a:xfrm>
            <a:off x="667151" y="977273"/>
            <a:ext cx="5705210" cy="2493096"/>
          </a:xfrm>
          <a:prstGeom prst="rect">
            <a:avLst/>
          </a:prstGeom>
        </p:spPr>
      </p:pic>
      <p:pic>
        <p:nvPicPr>
          <p:cNvPr id="6" name="Image 2" descr="/mnt/data/vkr_unzip/word/media/image5.png">
            <a:extLst>
              <a:ext uri="{FF2B5EF4-FFF2-40B4-BE49-F238E27FC236}">
                <a16:creationId xmlns:a16="http://schemas.microsoft.com/office/drawing/2014/main" id="{17C0B47F-42B6-D06E-27D0-49F6645F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10" b="8410"/>
          <a:stretch/>
        </p:blipFill>
        <p:spPr>
          <a:xfrm>
            <a:off x="6355080" y="982949"/>
            <a:ext cx="5493206" cy="2493096"/>
          </a:xfrm>
          <a:prstGeom prst="rect">
            <a:avLst/>
          </a:prstGeom>
        </p:spPr>
      </p:pic>
      <p:pic>
        <p:nvPicPr>
          <p:cNvPr id="7" name="Image 3" descr="/mnt/data/vkr_unzip/word/media/image8.png">
            <a:extLst>
              <a:ext uri="{FF2B5EF4-FFF2-40B4-BE49-F238E27FC236}">
                <a16:creationId xmlns:a16="http://schemas.microsoft.com/office/drawing/2014/main" id="{F4CD6425-833E-A24F-8542-B71F4CDEFE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626" r="31764" b="26526"/>
          <a:stretch/>
        </p:blipFill>
        <p:spPr>
          <a:xfrm>
            <a:off x="2300735" y="3694631"/>
            <a:ext cx="7331450" cy="228727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3D32CA7-22A2-52B7-37B7-E6737D3BA986}"/>
              </a:ext>
            </a:extLst>
          </p:cNvPr>
          <p:cNvSpPr/>
          <p:nvPr/>
        </p:nvSpPr>
        <p:spPr>
          <a:xfrm>
            <a:off x="594360" y="346469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старт</a:t>
            </a:r>
            <a:r>
              <a:rPr lang="en-US" sz="9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сборки wiki и индекса</a:t>
            </a:r>
            <a:endParaRPr lang="en-US" sz="900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EEC7016-F674-956B-CF27-C46914E4F564}"/>
              </a:ext>
            </a:extLst>
          </p:cNvPr>
          <p:cNvSpPr/>
          <p:nvPr/>
        </p:nvSpPr>
        <p:spPr>
          <a:xfrm>
            <a:off x="6355080" y="346469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Markdown-wiki в Obsidian</a:t>
            </a:r>
            <a:endParaRPr lang="en-US" sz="900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00D019D-AFDA-92D4-EDD1-9C9DAD8EE025}"/>
              </a:ext>
            </a:extLst>
          </p:cNvPr>
          <p:cNvSpPr/>
          <p:nvPr/>
        </p:nvSpPr>
        <p:spPr>
          <a:xfrm>
            <a:off x="594360" y="5976225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ответ</a:t>
            </a:r>
            <a:r>
              <a:rPr lang="en-US" sz="900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OpenCode-агента на вопрос по кодовой базе</a:t>
            </a:r>
            <a:endParaRPr lang="en-US" sz="900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C816243-DA91-201B-97DD-091AC6D197FC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F9280F1A-ED6C-2E22-9539-F7C8A5507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4C8860D-148A-E6D4-8574-DC1D2C39F4B2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50A78AB-8D44-400E-4FC5-42FE7F430A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3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5AA3-913A-4DE4-F91B-75314B3F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C74BC87-846B-6AA8-4A5D-672CBE42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11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10E4616-01E6-5A3C-3781-5056544AE826}"/>
              </a:ext>
            </a:extLst>
          </p:cNvPr>
          <p:cNvSpPr txBox="1">
            <a:spLocks/>
          </p:cNvSpPr>
          <p:nvPr/>
        </p:nvSpPr>
        <p:spPr>
          <a:xfrm>
            <a:off x="809047" y="576100"/>
            <a:ext cx="8307243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ОГРАНИЧЕНИЯ</a:t>
            </a:r>
            <a:r>
              <a:rPr lang="en-US" sz="2400" dirty="0">
                <a:solidFill>
                  <a:srgbClr val="0064BE"/>
                </a:solidFill>
                <a:latin typeface="Montserrat ExtraBold" pitchFamily="2" charset="-52"/>
              </a:rPr>
              <a:t> </a:t>
            </a:r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И РАЗВИТИЕ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01AEB09-F16E-24FC-9EEB-83D4B0B26DA6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6406264-9B36-0F4E-CC87-CBBE96B1D78F}"/>
              </a:ext>
            </a:extLst>
          </p:cNvPr>
          <p:cNvSpPr/>
          <p:nvPr/>
        </p:nvSpPr>
        <p:spPr>
          <a:xfrm>
            <a:off x="779076" y="1746120"/>
            <a:ext cx="5166360" cy="3365759"/>
          </a:xfrm>
          <a:prstGeom prst="roundRect">
            <a:avLst>
              <a:gd name="adj" fmla="val 1818"/>
            </a:avLst>
          </a:prstGeom>
          <a:solidFill>
            <a:srgbClr val="EAF5FF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Ограничения</a:t>
            </a:r>
            <a:endParaRPr lang="en-US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зависимость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от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PasDoc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семантическая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близость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не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равна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точной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реализации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результат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зависит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от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разбиения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Markdown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AI-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обогащение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увеличивает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время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подготовки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ориентация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на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поиск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, а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не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на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активное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редактирование</a:t>
            </a:r>
            <a:endParaRPr lang="ru-RU" dirty="0">
              <a:solidFill>
                <a:srgbClr val="222222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ru-RU" dirty="0">
                <a:solidFill>
                  <a:srgbClr val="222222"/>
                </a:solidFill>
                <a:latin typeface="Montserrat" panose="00000500000000000000" pitchFamily="2" charset="-52"/>
              </a:rPr>
              <a:t>требование </a:t>
            </a:r>
            <a:r>
              <a:rPr lang="ru-RU" dirty="0" err="1">
                <a:solidFill>
                  <a:srgbClr val="222222"/>
                </a:solidFill>
                <a:latin typeface="Montserrat" panose="00000500000000000000" pitchFamily="2" charset="-52"/>
              </a:rPr>
              <a:t>прогревочных</a:t>
            </a:r>
            <a:r>
              <a:rPr lang="ru-RU" dirty="0">
                <a:solidFill>
                  <a:srgbClr val="222222"/>
                </a:solidFill>
                <a:latin typeface="Montserrat" panose="00000500000000000000" pitchFamily="2" charset="-52"/>
              </a:rPr>
              <a:t> действий от пользователя</a:t>
            </a:r>
            <a:endParaRPr lang="en-US" dirty="0">
              <a:latin typeface="Montserrat" panose="00000500000000000000" pitchFamily="2" charset="-52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64CBDBB-024C-4285-DD19-21B3D52F47C3}"/>
              </a:ext>
            </a:extLst>
          </p:cNvPr>
          <p:cNvSpPr/>
          <p:nvPr/>
        </p:nvSpPr>
        <p:spPr>
          <a:xfrm>
            <a:off x="6463596" y="1766901"/>
            <a:ext cx="5166360" cy="334497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1489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Направления</a:t>
            </a:r>
            <a:r>
              <a:rPr lang="en-US" b="1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 </a:t>
            </a:r>
            <a:r>
              <a:rPr lang="en-US" b="1" dirty="0" err="1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развития</a:t>
            </a:r>
            <a:endParaRPr lang="ru-RU" b="1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валидация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SimpleXML и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дополнительный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мини-парсер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улучшение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структуры wiki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под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индексацию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гибридные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инструменты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ru-RU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поиска</a:t>
            </a: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точечное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обновление wiki и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индекса</a:t>
            </a:r>
            <a:endParaRPr lang="ru-RU" dirty="0">
              <a:latin typeface="Montserrat" panose="00000500000000000000" pitchFamily="2" charset="-52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переход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к графовой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базе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или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базе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знаний</a:t>
            </a:r>
            <a:endParaRPr lang="ru-RU" dirty="0">
              <a:solidFill>
                <a:srgbClr val="222222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  <a:p>
            <a:pPr marL="285750" indent="-285750">
              <a:buFont typeface="Calibri" panose="020F0502020204030204" pitchFamily="34" charset="0"/>
              <a:buChar char="–"/>
            </a:pP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автоматизация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прогрев</a:t>
            </a:r>
            <a:r>
              <a:rPr lang="ru-RU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ов</a:t>
            </a:r>
            <a:endParaRPr lang="ru-RU" dirty="0">
              <a:latin typeface="Montserrat" panose="00000500000000000000" pitchFamily="2" charset="-52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F12DA63-27BB-A0C4-181C-136A742E3AB8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C67D48B-E12F-9976-93F3-461F3D034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743693C-4214-F0EC-86A7-FD9D2AE784B1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455444-D1DC-396D-F4D7-D9FF33E598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28F6B-1C0B-AE94-90F1-3B523C3B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4BB360-370E-524B-812E-65BD4CE0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AC578-A75C-41F3-9829-00AE8EC2AFD1}" type="slidenum">
              <a:rPr lang="ru-RU" smtClean="0"/>
              <a:t>12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EE634B0-414D-E4F2-ECA9-D2E60AE6C185}"/>
              </a:ext>
            </a:extLst>
          </p:cNvPr>
          <p:cNvSpPr txBox="1">
            <a:spLocks/>
          </p:cNvSpPr>
          <p:nvPr/>
        </p:nvSpPr>
        <p:spPr>
          <a:xfrm>
            <a:off x="809047" y="576100"/>
            <a:ext cx="8307243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0064BE"/>
                </a:solidFill>
                <a:latin typeface="Montserrat ExtraBold" pitchFamily="2" charset="-52"/>
              </a:rPr>
              <a:t>ЗАКЛЮЧЕНИЕ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3ED066E-B453-B25E-551B-CC60CEEB827C}"/>
              </a:ext>
            </a:extLst>
          </p:cNvPr>
          <p:cNvSpPr txBox="1">
            <a:spLocks/>
          </p:cNvSpPr>
          <p:nvPr/>
        </p:nvSpPr>
        <p:spPr>
          <a:xfrm>
            <a:off x="809046" y="6223517"/>
            <a:ext cx="10544754" cy="583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>
                <a:solidFill>
                  <a:srgbClr val="0064BE"/>
                </a:solidFill>
                <a:latin typeface="Montserrat Medium" pitchFamily="2" charset="-52"/>
              </a:rPr>
              <a:t>разработка информационной системы для исследовательского поиска в массивах структурированных данных с помощью больших языковых моделей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8FA8948-0210-A5C3-4454-2B77FECA13D2}"/>
              </a:ext>
            </a:extLst>
          </p:cNvPr>
          <p:cNvSpPr/>
          <p:nvPr/>
        </p:nvSpPr>
        <p:spPr>
          <a:xfrm>
            <a:off x="670561" y="1738618"/>
            <a:ext cx="5166360" cy="2176225"/>
          </a:xfrm>
          <a:prstGeom prst="roundRect">
            <a:avLst>
              <a:gd name="adj" fmla="val 5161"/>
            </a:avLst>
          </a:prstGeom>
          <a:solidFill>
            <a:srgbClr val="EAF5FF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Результат работы</a:t>
            </a:r>
            <a:endParaRPr lang="en-US" dirty="0">
              <a:latin typeface="Montserrat" panose="00000500000000000000" pitchFamily="2" charset="-5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Создана локальная информационная система, формирующая навигационно-поисковый слой над Pascal/Delphi-кодовой </a:t>
            </a:r>
            <a:r>
              <a:rPr lang="en-US" dirty="0" err="1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базой</a:t>
            </a:r>
            <a:r>
              <a:rPr lang="en-US" dirty="0">
                <a:solidFill>
                  <a:srgbClr val="222222"/>
                </a:solidFill>
                <a:latin typeface="Montserrat" panose="00000500000000000000" pitchFamily="2" charset="-52"/>
                <a:ea typeface="Montserrat Medium" pitchFamily="34" charset="-122"/>
                <a:cs typeface="Montserrat Medium" pitchFamily="34" charset="-120"/>
              </a:rPr>
              <a:t>.</a:t>
            </a:r>
            <a:endParaRPr lang="ru-RU" dirty="0">
              <a:solidFill>
                <a:srgbClr val="222222"/>
              </a:solidFill>
              <a:latin typeface="Montserrat" panose="00000500000000000000" pitchFamily="2" charset="-52"/>
              <a:ea typeface="Montserrat Medium" pitchFamily="34" charset="-122"/>
              <a:cs typeface="Montserrat Medium" pitchFamily="34" charset="-12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9B6F72B-0EA1-EE26-9134-65D70CC310DF}"/>
              </a:ext>
            </a:extLst>
          </p:cNvPr>
          <p:cNvSpPr/>
          <p:nvPr/>
        </p:nvSpPr>
        <p:spPr>
          <a:xfrm>
            <a:off x="6355079" y="1738617"/>
            <a:ext cx="5166360" cy="2176225"/>
          </a:xfrm>
          <a:prstGeom prst="roundRect">
            <a:avLst>
              <a:gd name="adj" fmla="val 5161"/>
            </a:avLst>
          </a:prstGeom>
          <a:solidFill>
            <a:srgbClr val="EAF5FF"/>
          </a:solidFill>
          <a:ln w="12700">
            <a:solidFill>
              <a:srgbClr val="008C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Работоспособность</a:t>
            </a:r>
          </a:p>
          <a:p>
            <a:pPr marL="0" indent="0">
              <a:buNone/>
            </a:pPr>
            <a:r>
              <a:rPr lang="ru-RU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Тестирование показало, что система снижает сложность первичного изучения незнакомого </a:t>
            </a:r>
            <a:r>
              <a:rPr lang="ru-RU" dirty="0" err="1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Pascal</a:t>
            </a:r>
            <a:r>
              <a:rPr lang="ru-RU" dirty="0">
                <a:solidFill>
                  <a:srgbClr val="222222"/>
                </a:solidFill>
                <a:latin typeface="Montserrat" panose="00000500000000000000" pitchFamily="2" charset="-52"/>
                <a:ea typeface="Montserrat ExtraBold" pitchFamily="34" charset="-122"/>
                <a:cs typeface="Montserrat ExtraBold" pitchFamily="34" charset="-120"/>
              </a:rPr>
              <a:t>/Delphi-проекта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EF2A2E7-E95B-FF37-16BD-A3F278644CF1}"/>
              </a:ext>
            </a:extLst>
          </p:cNvPr>
          <p:cNvGrpSpPr/>
          <p:nvPr/>
        </p:nvGrpSpPr>
        <p:grpSpPr bwMode="auto">
          <a:xfrm>
            <a:off x="7404100" y="397176"/>
            <a:ext cx="2912918" cy="590548"/>
            <a:chOff x="0" y="0"/>
            <a:chExt cx="3640283" cy="59054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29D6E849-604C-EDC1-3695-516A87B45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0" y="0"/>
              <a:ext cx="742950" cy="590548"/>
            </a:xfrm>
            <a:prstGeom prst="rect">
              <a:avLst/>
            </a:prstGeom>
          </p:spPr>
        </p:pic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4B90A22-E354-7254-D729-612718147255}"/>
                </a:ext>
              </a:extLst>
            </p:cNvPr>
            <p:cNvSpPr/>
            <p:nvPr/>
          </p:nvSpPr>
          <p:spPr bwMode="auto">
            <a:xfrm>
              <a:off x="645679" y="0"/>
              <a:ext cx="2994604" cy="457559"/>
            </a:xfrm>
            <a:prstGeom prst="rect">
              <a:avLst/>
            </a:prstGeom>
            <a:grp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defRPr/>
              </a:pP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Институт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информатики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и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математического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моделирования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им</a:t>
              </a:r>
              <a:r>
                <a:rPr sz="1200" b="0" i="0" u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. В.А. </a:t>
              </a:r>
              <a:r>
                <a:rPr sz="1200" b="0" i="0" u="none" dirty="0" err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Путилова</a:t>
              </a:r>
              <a:endParaRPr dirty="0">
                <a:solidFill>
                  <a:srgbClr val="002060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88790F-F29B-29F0-27BA-DE4A7DB40A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5299"/>
            <a:ext cx="2316001" cy="874302"/>
          </a:xfrm>
          <a:prstGeom prst="rect">
            <a:avLst/>
          </a:prstGeom>
        </p:spPr>
      </p:pic>
      <p:sp>
        <p:nvSpPr>
          <p:cNvPr id="11" name="Text 10">
            <a:extLst>
              <a:ext uri="{FF2B5EF4-FFF2-40B4-BE49-F238E27FC236}">
                <a16:creationId xmlns:a16="http://schemas.microsoft.com/office/drawing/2014/main" id="{632D140E-F230-59C2-9971-7CF1D90A3B3F}"/>
              </a:ext>
            </a:extLst>
          </p:cNvPr>
          <p:cNvSpPr/>
          <p:nvPr/>
        </p:nvSpPr>
        <p:spPr>
          <a:xfrm>
            <a:off x="670561" y="4396130"/>
            <a:ext cx="10850878" cy="685800"/>
          </a:xfrm>
          <a:prstGeom prst="roundRect">
            <a:avLst>
              <a:gd name="adj" fmla="val 10667"/>
            </a:avLst>
          </a:prstGeom>
          <a:solidFill>
            <a:srgbClr val="0064BE"/>
          </a:solidFill>
          <a:ln>
            <a:solidFill>
              <a:srgbClr val="0064B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Поставленная практическая задача выполнена: цепочка подготовки и использования данных работает на основном сценарии.</a:t>
            </a:r>
          </a:p>
        </p:txBody>
      </p:sp>
    </p:spTree>
    <p:extLst>
      <p:ext uri="{BB962C8B-B14F-4D97-AF65-F5344CB8AC3E}">
        <p14:creationId xmlns:p14="http://schemas.microsoft.com/office/powerpoint/2010/main" val="3510095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5384</TotalTime>
  <Words>982</Words>
  <Application>Microsoft Office PowerPoint</Application>
  <PresentationFormat>Широкоэкранный</PresentationFormat>
  <Paragraphs>162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Montserrat Black</vt:lpstr>
      <vt:lpstr>Calibri Light</vt:lpstr>
      <vt:lpstr>Montserrat</vt:lpstr>
      <vt:lpstr>Open Sans</vt:lpstr>
      <vt:lpstr>Calibri</vt:lpstr>
      <vt:lpstr>Montserrat ExtraBold</vt:lpstr>
      <vt:lpstr>Montserrat Medium</vt:lpstr>
      <vt:lpstr>Тема Office</vt:lpstr>
      <vt:lpstr>РАЗРАБОТКА ИНФОРМАЦИОННОЙ СИСТЕМЫ ДЛЯ ИССЛЕДОВАТЕЛЬСКОГО ПОИСКА В МАССИВАХ СТРУКТУРИРОВАННЫХ ДАННЫХ С ПОМОЩЬЮ БОЛЬШИХ ЯЗЫКОВЫХ МОДЕЛЕЙ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Куракова Галина Николаевна</dc:creator>
  <cp:lastModifiedBy>Даниил Фигуркин</cp:lastModifiedBy>
  <cp:revision>124</cp:revision>
  <dcterms:created xsi:type="dcterms:W3CDTF">2024-03-11T11:27:17Z</dcterms:created>
  <dcterms:modified xsi:type="dcterms:W3CDTF">2026-06-23T06:30:01Z</dcterms:modified>
</cp:coreProperties>
</file>